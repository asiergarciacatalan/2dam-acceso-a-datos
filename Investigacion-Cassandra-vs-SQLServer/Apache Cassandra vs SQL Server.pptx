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JetBrains Mono" panose="02000009000000000000" pitchFamily="49" charset="0"/>
      <p:regular r:id="rId24"/>
      <p:bold r:id="rId25"/>
    </p:embeddedFont>
    <p:embeddedFont>
      <p:font typeface="Space Grotesk" pitchFamily="34"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AITOR (≈20 s). Buenos días. Nosotros vamos a hablar de Apache Cassandra, una base de datos NoSQL. El subtítulo es “la base de datos que no tiene jefe”: al final de mi parte entenderéis por qué. Lo que veis girando a la derecha es un clúster de Cassandra: cada círculo es un servidor y los puntos naranjas son datos viajando entre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AITOR (≈30 s). Este es el índice. Yo explico las tres primeras partes: las familias NoSQL, cómo guarda Cassandra los datos en columnas anchas y el anillo de nodos. Daniel convierte la tabla Personas a Cassandra y hace el CRUD en C#. Y Asier cierra con ventajas, desventajas, empresas reales, el caso Discord y cuándo elegir cada motor. Al final tenéis la bibliografía.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AITOR (≈50 s). En el Tema 3 vimos SQL Server: tablas con columnas fijas, claves primarias y foráneas. NoSQL significa “Not only SQL”, no solo SQL. Hay cuatro familias: documental, como MongoDB, que guarda JSON; clave-valor, como Redis, que es un diccionario gigante; grafos, como Neo4j, para relaciones; y columnas anchas, que es Cassandra. Ojo: “columnar” aquí no significa que guarde columna a columna como un almacén analítico; significa que cada fila puede tener columnas distintas y que las filas se agrupan por una clave. Cassandra nació en Facebook en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AITOR (≈60 s). A la izquierda, cómo lo hacemos en SQL Server: una tabla rígida, todas las filas con las mismas columnas y, si falta un dato, NULL. Y todo en un servidor. A la derecha, Cassandra en acción: cada persona que insertamos pasa por una función hash que calcula un número a partir de su ciudad, y ese número decide el nodo. Fijaos: Ana y Luis son de Madrid y caen siempre en el nodo A; Marta y Eva, de Toledo, en el D. Eso es una partición. La idea más importante de hoy: la clave de partición decide en qué servidor vive cada dato. Y además cada fila guarda solo las columnas que tiene, sin NULLs.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AITOR (≈60 s). Y aquí está lo de “sin jefe”. SQL Server normalmente es un servidor principal. Cassandra es un anillo de nodos donde todos son iguales: no hay maestro. Mirad la animación: la app escribe en cualquier nodo, ese nodo copia el dato en tres servidores, que es el factor de replicación 3. Ahora se cae un nodo, el de la X roja, y aun así la lectura funciona porque hay otras copias. Por eso se dice que Cassandra no tiene punto único de fallo. Si da tiempo, abrid el laboratorio 3D con el botón: se puede girar el anillo, tumbar nodos pulsándolos e insertar personas en directo. Hasta aquí mi parte; ahora Daniel os enseña cómo quedaría nuestra tabla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(≈40 s). Gracias, Aitor. Antes de ver código, un pequeño diccionario: mirad cómo cada tarjeta de SQL Server se da la vuelta y muestra su equivalente en Cassandra. Lo que en SQL Server es una base de datos, en Cassandra es un keyspace, y ahí además se dice cuántas copias de cada dato queremos. Las tablas siguen llamándose tablas. La clave primaria cambia: se divide en clave de partición y clave de agrupación. No hay IDENTITY, usamos uuid. El lenguaje es CQL, que se parece muchísimo a SQL. Y lo importante: no hay JOIN ni claves foráneas.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(≈60 s). A la izquierda, la tabla Personas que hicimos en el Tema 3. A la derecha la vamos escribiendo en Cassandra, y se ilumina en naranja la línea equivalente de SQL Server. Primero se crea el keyspace “clase”, que es como la base de datos, y le decimos que guarde 3 copias de cada dato. Luego la tabla: casi igual, pero el Id pasa a ser uuid, un identificador único que genera la propia aplicación, porque en un sistema repartido no hay un contador central para el autonumérico. Los tipos cambian a text y date. Fijaos que se parece muchísimo a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(≈60 s). Esta es la diferencia más grande con SQL Server. En SQL Server diseñamos las tablas y luego preguntamos lo que queramos con WHERE y JOIN. En Cassandra es al revés: primero pensamos la pregunta y creamos una tabla para ella. Si queremos saber quién vive en Madrid, creamos personas_por_ciudad. La ciudad es la clave de partición; apellidos e id ordenan dentro. Mirad la animación: si busco por ciudad, la consulta va directa a un solo nodo y es rapidísima. Si busco por email, que no es clave, Cassandra tendría que preguntar a todos los nodos, y por eso da error. La solución es otra tabla, personas_por_email: duplicar datos en Cassandra es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(≈40 s). Para usarlo desde .NET hay un driver de DataStax, la empresa que más contribuye a Cassandra. Se instala con NuGet, CassandraCSharpDriver. En el Tema 3 abríamos una SqlConnection con una cadena de conexión. Aquí creamos un Cluster, le damos la dirección de un nodo, y con Connect abrimos una sesión sobre el keyspace “clase”. Basta con un nodo: el driver descubre él solo el resto del anillo y, si uno se cae, cambia a otro automáticamente.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(≈60 s). Y el CRUD, lo mismo que hicimos con SqlCommand. Insertar: preparamos la consulta con interrogaciones en lugar de @parámetros, generamos un Guid y ejecutamos con Bind. Leer: SELECT por id y sacamos el nombre con GetValue. Modificar: UPDATE con SET y WHERE id. Borrar: DELETE por id. Fijaos en que el WHERE siempre va por la clave. Un detalle curioso: en Cassandra el INSERT y el UPDATE se comportan igual; si el id ya existe, sobrescribe sin dar error. Ahora Aitor os cuenta qué ganamos y qué perdemos con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ASIER (≈60 s). Gracias. ¿Qué ganamos con Cassandra? Primero, escala en horizontal: SQL Server suele crecer comprando un servidor más grande; Cassandra crece añadiendo servidores normales, y el rendimiento sube casi en línea recta. Segundo, no hay punto único de fallo, como vimos con el anillo. Tercero, escribe muy rápido, porque primero guarda en memoria y en un registro secuencial. Cuarto, puede copiar datos entre centros de datos de distintos países. Quinto, esquema flexible: cada fila guarda solo sus columnas. Y sexto, consistencia a la carta: en cada consulta decides si te basta con que responda un nodo, ONE, o la mayoría de las copias, QUORUM.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ASIER (≈60 s). Pero nada es gratis. No hay JOIN, así que duplicamos datos. No hay claves foráneas: si borro una persona, Cassandra no me avisa de que tenía pedidos; eso lo controla nuestro código. Las transacciones son limitadas: existen las “transacciones ligeras” con IF NOT EXISTS, pero solo dentro de una partición, nada de BEGIN TRAN y ROLLBACK como en SQL Server. Las consultas son rígidas: solo por la clave. La consistencia es eventual: durante un momento, dos copias pueden no coincidir. Y mantener un clúster grande es complicado: Cassandra está hecha en Java y hay que ajustar memoria, reparaciones y compactaciones.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ASIER (≈50 s). ¿Quién lo usa? Mirad los contadores. Apple tenía en 2021 más de 160.000 instancias de Cassandra con 100 petabytes. Netflix, más de 10.000 instancias y más de un billón de peticiones al día; billón español, un millón de millones. Y la creó Facebook en 2008 para la búsqueda en la bandeja de mensajes; luego la donó a la fundación Apache. ¿Por qué la eligieron en vez de una relacional? Porque tienen datos enormes, escriben sin parar y no se pueden permitir caídas. También la usan Instagram, eBay, Reddit o el 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ASIER (≈50 s). Un caso con giro final: Discord. Empezaron en 2015 con MongoDB, y con 100 millones de mensajes los datos ya no cabían en memoria. Se pasaron a Cassandra: en 2017 tenían 12 nodos y miles de millones de mensajes. En 2022 ya eran 177 nodos y billones de mensajes, pero aparecieron problemas: pausas de la máquina virtual de Java y un mantenimiento muy caro. Así que migraron a ScyllaDB, que es compatible con Cassandra, usa el mismo lenguaje CQL, pero está escrita en C++. Pasaron de 177 a 72 nodos. La moraleja: el modelo de datos de Cassandra funciona tan bien que su sustituto habla el mismo idioma.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ASIER (≈50 s). Entonces, ¿cuándo usaríamos cada uno? Cassandra cuando hay muchísimas escrituras y la app no puede caerse: sensores, un chat, el “seguir viendo” de una plataforma de vídeo, logs. SQL Server cuando necesitamos que todo cuadre y que los datos estén relacionados: un banco, una tienda con pedidos y stock, o la secretaría del instituto con alumnos, asignaturas y notas. Para un proyecto pequeño como los de clase, SQL Server es la opción lógica: Cassandra solo brilla con mucho volumen. Y lo normal en empresas grandes es usar las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ASIER (≈10 s). Estas son las fuentes que hemos usado: la web oficial de Apache Cassandra, la documentación del driver de DataStax para C#, los datos de IT Brief y DataStax sobre Apple y Netflix, el blog de ingeniería de Discord y los apuntes del Tema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ASIER (≈20 s). Para terminar, una frase: SQL Server protege la coherencia, que todo cuadre siempre. Cassandra protege la disponibilidad, que el sistema no se caiga nunca. Ninguna es mejor: depende del proyecto. Muchas gracias por vuestra atención. ¿Tenéis alguna pregunta? (Responde quien tenga ese tema: mirad la chuleta del guion.)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E3C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4F1E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F4F1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E3C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claude.ai/artifact/AL6wBDADseTnvbaihLFKGg" TargetMode="Externa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claude.ai/artifact/AL6wBDADseTnvbaihLFKGg" TargetMode="External"/><Relationship Id="rId1" Type="http://schemas.openxmlformats.org/officeDocument/2006/relationships/image" Target="../media/image-8-1.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assandra.apache.org/" TargetMode="External"/><Relationship Id="rId2" Type="http://schemas.openxmlformats.org/officeDocument/2006/relationships/hyperlink" Target="https://docs.datastax.com/en/developer/csharp-driver/3.22/index.html" TargetMode="External"/><Relationship Id="rId3" Type="http://schemas.openxmlformats.org/officeDocument/2006/relationships/hyperlink" Target="https://datastax.com/blog/apache-cassandratm-four-interesting-facts" TargetMode="External"/><Relationship Id="rId4" Type="http://schemas.openxmlformats.org/officeDocument/2006/relationships/hyperlink" Target="https://itbrief.com.au/story/apache-cassandra-version-4-0-released-used-by-apple-netflix-amazon-and-thousands-more" TargetMode="External"/><Relationship Id="rId5" Type="http://schemas.openxmlformats.org/officeDocument/2006/relationships/hyperlink" Target="https://resources.scylladb.com/blog/how-discord-stores-trillions-of-messages" TargetMode="External"/><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0"/>
        </a:solidFill>
      </p:bgPr>
    </p:bg>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6146800" y="812800"/>
            <a:ext cx="5232400" cy="5232400"/>
          </a:xfrm>
          <a:prstGeom prst="rect">
            <a:avLst/>
          </a:prstGeom>
        </p:spPr>
      </p:pic>
      <p:sp>
        <p:nvSpPr>
          <p:cNvPr id="3" name="Text 0"/>
          <p:cNvSpPr/>
          <p:nvPr/>
        </p:nvSpPr>
        <p:spPr>
          <a:xfrm>
            <a:off x="812800" y="1936115"/>
            <a:ext cx="5624830"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3FC1C9"/>
                </a:solidFill>
                <a:latin typeface="IBM Plex Sans" pitchFamily="34" charset="0"/>
                <a:ea typeface="IBM Plex Sans" pitchFamily="34" charset="-122"/>
                <a:cs typeface="IBM Plex Sans" pitchFamily="34" charset="-120"/>
              </a:rPr>
              <a:t>NOSQL · COLUMNAS ANCHAS</a:t>
            </a:r>
            <a:endParaRPr lang="en-US" sz="1400" dirty="0"/>
          </a:p>
        </p:txBody>
      </p:sp>
      <p:sp>
        <p:nvSpPr>
          <p:cNvPr id="4" name="Text 1"/>
          <p:cNvSpPr/>
          <p:nvPr>
            <p:ph type="title"/>
          </p:nvPr>
        </p:nvSpPr>
        <p:spPr>
          <a:xfrm>
            <a:off x="812800" y="2388235"/>
            <a:ext cx="5755640" cy="1803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F4F1EA"/>
                </a:solidFill>
                <a:latin typeface="Space Grotesk" pitchFamily="34" charset="0"/>
                <a:ea typeface="Space Grotesk" pitchFamily="34" charset="-122"/>
                <a:cs typeface="Space Grotesk" pitchFamily="34" charset="-120"/>
              </a:rPr>
              <a:t>Apache Cassandra</a:t>
            </a:r>
            <a:endParaRPr lang="en-US" sz="7000" dirty="0"/>
          </a:p>
        </p:txBody>
      </p:sp>
      <p:sp>
        <p:nvSpPr>
          <p:cNvPr id="5" name="Text 2"/>
          <p:cNvSpPr/>
          <p:nvPr/>
        </p:nvSpPr>
        <p:spPr>
          <a:xfrm>
            <a:off x="812800" y="4369435"/>
            <a:ext cx="562483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B7C4D1"/>
                </a:solidFill>
                <a:latin typeface="IBM Plex Sans" pitchFamily="34" charset="0"/>
                <a:ea typeface="IBM Plex Sans" pitchFamily="34" charset="-122"/>
                <a:cs typeface="IBM Plex Sans" pitchFamily="34" charset="-120"/>
              </a:rPr>
              <a:t>La base de datos que no tiene jefe</a:t>
            </a:r>
            <a:endParaRPr lang="en-US" sz="2200" dirty="0"/>
          </a:p>
        </p:txBody>
      </p:sp>
      <p:sp>
        <p:nvSpPr>
          <p:cNvPr id="6" name="Text 3"/>
          <p:cNvSpPr/>
          <p:nvPr/>
        </p:nvSpPr>
        <p:spPr>
          <a:xfrm>
            <a:off x="812800" y="6238240"/>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Aitor García · Daniel Rodríguez · Asier García — Acceso a Datos · 2º DAM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Índice</a:t>
            </a:r>
            <a:endParaRPr lang="en-US" sz="3600" dirty="0"/>
          </a:p>
        </p:txBody>
      </p:sp>
      <p:sp>
        <p:nvSpPr>
          <p:cNvPr id="3" name="Shape 1"/>
          <p:cNvSpPr/>
          <p:nvPr/>
        </p:nvSpPr>
        <p:spPr>
          <a:xfrm>
            <a:off x="812800" y="1620520"/>
            <a:ext cx="3386614" cy="4165600"/>
          </a:xfrm>
          <a:prstGeom prst="roundRect">
            <a:avLst>
              <a:gd name="adj" fmla="val 3000"/>
            </a:avLst>
          </a:prstGeom>
          <a:solidFill>
            <a:srgbClr val="16212F"/>
          </a:solidFill>
          <a:ln/>
        </p:spPr>
      </p:sp>
      <p:sp>
        <p:nvSpPr>
          <p:cNvPr id="4" name="Shape 2"/>
          <p:cNvSpPr/>
          <p:nvPr/>
        </p:nvSpPr>
        <p:spPr>
          <a:xfrm>
            <a:off x="812800" y="1620520"/>
            <a:ext cx="3386614" cy="4165600"/>
          </a:xfrm>
          <a:custGeom>
            <a:avLst/>
            <a:gdLst/>
            <a:ahLst/>
            <a:cxnLst/>
            <a:rect l="l" t="t" r="r" b="b"/>
            <a:pathLst>
              <a:path w="3386614" h="4165600">
                <a:moveTo>
                  <a:pt x="0" y="101600"/>
                </a:moveTo>
                <a:lnTo>
                  <a:pt x="0" y="101600"/>
                </a:lnTo>
                <a:arcTo hR="101600" wR="101600" stAng="10800000" swAng="5400000"/>
                <a:lnTo>
                  <a:pt x="3285014" y="0"/>
                </a:lnTo>
                <a:arcTo hR="101600" wR="101600" stAng="16200000" swAng="5400000"/>
                <a:lnTo>
                  <a:pt x="3386614" y="101600"/>
                </a:lnTo>
                <a:arcTo hR="63500" wR="101600" stAng="0" swAng="-5400000"/>
                <a:lnTo>
                  <a:pt x="101600" y="38100"/>
                </a:lnTo>
                <a:arcTo hR="63500" wR="101600" stAng="16200000" swAng="-5400000"/>
                <a:close/>
              </a:path>
            </a:pathLst>
          </a:custGeom>
          <a:solidFill>
            <a:srgbClr val="3FC1C9"/>
          </a:solidFill>
          <a:ln/>
        </p:spPr>
      </p:sp>
      <p:sp>
        <p:nvSpPr>
          <p:cNvPr id="5" name="Text 3"/>
          <p:cNvSpPr/>
          <p:nvPr/>
        </p:nvSpPr>
        <p:spPr>
          <a:xfrm>
            <a:off x="1066800" y="1884680"/>
            <a:ext cx="296497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C1C9"/>
                </a:solidFill>
                <a:latin typeface="IBM Plex Sans" pitchFamily="34" charset="0"/>
                <a:ea typeface="IBM Plex Sans" pitchFamily="34" charset="-122"/>
                <a:cs typeface="IBM Plex Sans" pitchFamily="34" charset="-120"/>
              </a:rPr>
              <a:t>AITOR GARCÍA</a:t>
            </a:r>
            <a:endParaRPr lang="en-US" sz="1200" dirty="0"/>
          </a:p>
        </p:txBody>
      </p:sp>
      <p:sp>
        <p:nvSpPr>
          <p:cNvPr id="6" name="Text 4"/>
          <p:cNvSpPr/>
          <p:nvPr/>
        </p:nvSpPr>
        <p:spPr>
          <a:xfrm>
            <a:off x="1066800" y="219964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C1C9"/>
                </a:solidFill>
                <a:latin typeface="Space Grotesk" pitchFamily="34" charset="0"/>
                <a:ea typeface="Space Grotesk" pitchFamily="34" charset="-122"/>
                <a:cs typeface="Space Grotesk" pitchFamily="34" charset="-120"/>
              </a:rPr>
              <a:t>01</a:t>
            </a:r>
            <a:endParaRPr lang="en-US" sz="1600" dirty="0"/>
          </a:p>
        </p:txBody>
      </p:sp>
      <p:sp>
        <p:nvSpPr>
          <p:cNvPr id="7" name="Text 5"/>
          <p:cNvSpPr/>
          <p:nvPr/>
        </p:nvSpPr>
        <p:spPr>
          <a:xfrm>
            <a:off x="1549400" y="2199640"/>
            <a:ext cx="24678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Familias NoSQL</a:t>
            </a:r>
            <a:endParaRPr lang="en-US" sz="1400" dirty="0"/>
          </a:p>
        </p:txBody>
      </p:sp>
      <p:sp>
        <p:nvSpPr>
          <p:cNvPr id="8" name="Text 6"/>
          <p:cNvSpPr/>
          <p:nvPr/>
        </p:nvSpPr>
        <p:spPr>
          <a:xfrm>
            <a:off x="1549400" y="2461260"/>
            <a:ext cx="2467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Cuatro formas de guardar</a:t>
            </a:r>
            <a:endParaRPr lang="en-US" sz="1200" dirty="0"/>
          </a:p>
        </p:txBody>
      </p:sp>
      <p:sp>
        <p:nvSpPr>
          <p:cNvPr id="9" name="Text 7"/>
          <p:cNvSpPr/>
          <p:nvPr/>
        </p:nvSpPr>
        <p:spPr>
          <a:xfrm>
            <a:off x="1066800" y="277622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C1C9"/>
                </a:solidFill>
                <a:latin typeface="Space Grotesk" pitchFamily="34" charset="0"/>
                <a:ea typeface="Space Grotesk" pitchFamily="34" charset="-122"/>
                <a:cs typeface="Space Grotesk" pitchFamily="34" charset="-120"/>
              </a:rPr>
              <a:t>02</a:t>
            </a:r>
            <a:endParaRPr lang="en-US" sz="1600" dirty="0"/>
          </a:p>
        </p:txBody>
      </p:sp>
      <p:sp>
        <p:nvSpPr>
          <p:cNvPr id="10" name="Text 8"/>
          <p:cNvSpPr/>
          <p:nvPr/>
        </p:nvSpPr>
        <p:spPr>
          <a:xfrm>
            <a:off x="1549400" y="2776220"/>
            <a:ext cx="24678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Columnas anchas</a:t>
            </a:r>
            <a:endParaRPr lang="en-US" sz="1400" dirty="0"/>
          </a:p>
        </p:txBody>
      </p:sp>
      <p:sp>
        <p:nvSpPr>
          <p:cNvPr id="11" name="Text 9"/>
          <p:cNvSpPr/>
          <p:nvPr/>
        </p:nvSpPr>
        <p:spPr>
          <a:xfrm>
            <a:off x="1549400" y="3037840"/>
            <a:ext cx="2467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La clave elige servidor</a:t>
            </a:r>
            <a:endParaRPr lang="en-US" sz="1200" dirty="0"/>
          </a:p>
        </p:txBody>
      </p:sp>
      <p:sp>
        <p:nvSpPr>
          <p:cNvPr id="12" name="Text 10"/>
          <p:cNvSpPr/>
          <p:nvPr/>
        </p:nvSpPr>
        <p:spPr>
          <a:xfrm>
            <a:off x="1066800" y="335280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C1C9"/>
                </a:solidFill>
                <a:latin typeface="Space Grotesk" pitchFamily="34" charset="0"/>
                <a:ea typeface="Space Grotesk" pitchFamily="34" charset="-122"/>
                <a:cs typeface="Space Grotesk" pitchFamily="34" charset="-120"/>
              </a:rPr>
              <a:t>03</a:t>
            </a:r>
            <a:endParaRPr lang="en-US" sz="1600" dirty="0"/>
          </a:p>
        </p:txBody>
      </p:sp>
      <p:sp>
        <p:nvSpPr>
          <p:cNvPr id="13" name="Text 11"/>
          <p:cNvSpPr/>
          <p:nvPr/>
        </p:nvSpPr>
        <p:spPr>
          <a:xfrm>
            <a:off x="1549400" y="3352800"/>
            <a:ext cx="24678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El anillo</a:t>
            </a:r>
            <a:endParaRPr lang="en-US" sz="1400" dirty="0"/>
          </a:p>
        </p:txBody>
      </p:sp>
      <p:sp>
        <p:nvSpPr>
          <p:cNvPr id="14" name="Text 12"/>
          <p:cNvSpPr/>
          <p:nvPr/>
        </p:nvSpPr>
        <p:spPr>
          <a:xfrm>
            <a:off x="1549400" y="3614420"/>
            <a:ext cx="2467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Nodos iguales, sin jefe</a:t>
            </a:r>
            <a:endParaRPr lang="en-US" sz="1200" dirty="0"/>
          </a:p>
        </p:txBody>
      </p:sp>
      <p:sp>
        <p:nvSpPr>
          <p:cNvPr id="15" name="Shape 13"/>
          <p:cNvSpPr/>
          <p:nvPr/>
        </p:nvSpPr>
        <p:spPr>
          <a:xfrm>
            <a:off x="4402614" y="1620520"/>
            <a:ext cx="3386693" cy="4165600"/>
          </a:xfrm>
          <a:prstGeom prst="roundRect">
            <a:avLst>
              <a:gd name="adj" fmla="val 3000"/>
            </a:avLst>
          </a:prstGeom>
          <a:solidFill>
            <a:srgbClr val="16212F"/>
          </a:solidFill>
          <a:ln/>
        </p:spPr>
      </p:sp>
      <p:sp>
        <p:nvSpPr>
          <p:cNvPr id="16" name="Shape 14"/>
          <p:cNvSpPr/>
          <p:nvPr/>
        </p:nvSpPr>
        <p:spPr>
          <a:xfrm>
            <a:off x="4402614" y="1620520"/>
            <a:ext cx="3386693" cy="4165600"/>
          </a:xfrm>
          <a:custGeom>
            <a:avLst/>
            <a:gdLst/>
            <a:ahLst/>
            <a:cxnLst/>
            <a:rect l="l" t="t" r="r" b="b"/>
            <a:pathLst>
              <a:path w="3386693" h="4165600">
                <a:moveTo>
                  <a:pt x="0" y="101600"/>
                </a:moveTo>
                <a:lnTo>
                  <a:pt x="0" y="101600"/>
                </a:lnTo>
                <a:arcTo hR="101600" wR="101600" stAng="10800000" swAng="5400000"/>
                <a:lnTo>
                  <a:pt x="3285093" y="0"/>
                </a:lnTo>
                <a:arcTo hR="101600" wR="101600" stAng="16200000" swAng="5400000"/>
                <a:lnTo>
                  <a:pt x="3386693" y="101600"/>
                </a:lnTo>
                <a:arcTo hR="63500" wR="101600" stAng="0" swAng="-5400000"/>
                <a:lnTo>
                  <a:pt x="101600" y="38100"/>
                </a:lnTo>
                <a:arcTo hR="63500" wR="101600" stAng="16200000" swAng="-5400000"/>
                <a:close/>
              </a:path>
            </a:pathLst>
          </a:custGeom>
          <a:solidFill>
            <a:srgbClr val="F28C38"/>
          </a:solidFill>
          <a:ln/>
        </p:spPr>
      </p:sp>
      <p:sp>
        <p:nvSpPr>
          <p:cNvPr id="17" name="Text 15"/>
          <p:cNvSpPr/>
          <p:nvPr/>
        </p:nvSpPr>
        <p:spPr>
          <a:xfrm>
            <a:off x="4656614" y="1884680"/>
            <a:ext cx="296505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8C38"/>
                </a:solidFill>
                <a:latin typeface="IBM Plex Sans" pitchFamily="34" charset="0"/>
                <a:ea typeface="IBM Plex Sans" pitchFamily="34" charset="-122"/>
                <a:cs typeface="IBM Plex Sans" pitchFamily="34" charset="-120"/>
              </a:rPr>
              <a:t>DANIEL RODRÍGUEZ</a:t>
            </a:r>
            <a:endParaRPr lang="en-US" sz="1200" dirty="0"/>
          </a:p>
        </p:txBody>
      </p:sp>
      <p:sp>
        <p:nvSpPr>
          <p:cNvPr id="18" name="Text 16"/>
          <p:cNvSpPr/>
          <p:nvPr/>
        </p:nvSpPr>
        <p:spPr>
          <a:xfrm>
            <a:off x="4656614" y="219964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8C38"/>
                </a:solidFill>
                <a:latin typeface="Space Grotesk" pitchFamily="34" charset="0"/>
                <a:ea typeface="Space Grotesk" pitchFamily="34" charset="-122"/>
                <a:cs typeface="Space Grotesk" pitchFamily="34" charset="-120"/>
              </a:rPr>
              <a:t>04</a:t>
            </a:r>
            <a:endParaRPr lang="en-US" sz="1600" dirty="0"/>
          </a:p>
        </p:txBody>
      </p:sp>
      <p:sp>
        <p:nvSpPr>
          <p:cNvPr id="19" name="Text 17"/>
          <p:cNvSpPr/>
          <p:nvPr/>
        </p:nvSpPr>
        <p:spPr>
          <a:xfrm>
            <a:off x="5139214" y="219964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Diccionario</a:t>
            </a:r>
            <a:endParaRPr lang="en-US" sz="1400" dirty="0"/>
          </a:p>
        </p:txBody>
      </p:sp>
      <p:sp>
        <p:nvSpPr>
          <p:cNvPr id="20" name="Text 18"/>
          <p:cNvSpPr/>
          <p:nvPr/>
        </p:nvSpPr>
        <p:spPr>
          <a:xfrm>
            <a:off x="5139214" y="246126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De SQL Server a Cassandra</a:t>
            </a:r>
            <a:endParaRPr lang="en-US" sz="1200" dirty="0"/>
          </a:p>
        </p:txBody>
      </p:sp>
      <p:sp>
        <p:nvSpPr>
          <p:cNvPr id="21" name="Text 19"/>
          <p:cNvSpPr/>
          <p:nvPr/>
        </p:nvSpPr>
        <p:spPr>
          <a:xfrm>
            <a:off x="4656614" y="277622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8C38"/>
                </a:solidFill>
                <a:latin typeface="Space Grotesk" pitchFamily="34" charset="0"/>
                <a:ea typeface="Space Grotesk" pitchFamily="34" charset="-122"/>
                <a:cs typeface="Space Grotesk" pitchFamily="34" charset="-120"/>
              </a:rPr>
              <a:t>05</a:t>
            </a:r>
            <a:endParaRPr lang="en-US" sz="1600" dirty="0"/>
          </a:p>
        </p:txBody>
      </p:sp>
      <p:sp>
        <p:nvSpPr>
          <p:cNvPr id="22" name="Text 20"/>
          <p:cNvSpPr/>
          <p:nvPr/>
        </p:nvSpPr>
        <p:spPr>
          <a:xfrm>
            <a:off x="5139214" y="277622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Tabla Personas</a:t>
            </a:r>
            <a:endParaRPr lang="en-US" sz="1400" dirty="0"/>
          </a:p>
        </p:txBody>
      </p:sp>
      <p:sp>
        <p:nvSpPr>
          <p:cNvPr id="23" name="Text 21"/>
          <p:cNvSpPr/>
          <p:nvPr/>
        </p:nvSpPr>
        <p:spPr>
          <a:xfrm>
            <a:off x="5139214" y="303784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De T-SQL a CQL</a:t>
            </a:r>
            <a:endParaRPr lang="en-US" sz="1200" dirty="0"/>
          </a:p>
        </p:txBody>
      </p:sp>
      <p:sp>
        <p:nvSpPr>
          <p:cNvPr id="24" name="Text 22"/>
          <p:cNvSpPr/>
          <p:nvPr/>
        </p:nvSpPr>
        <p:spPr>
          <a:xfrm>
            <a:off x="4656614" y="335280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8C38"/>
                </a:solidFill>
                <a:latin typeface="Space Grotesk" pitchFamily="34" charset="0"/>
                <a:ea typeface="Space Grotesk" pitchFamily="34" charset="-122"/>
                <a:cs typeface="Space Grotesk" pitchFamily="34" charset="-120"/>
              </a:rPr>
              <a:t>06</a:t>
            </a:r>
            <a:endParaRPr lang="en-US" sz="1600" dirty="0"/>
          </a:p>
        </p:txBody>
      </p:sp>
      <p:sp>
        <p:nvSpPr>
          <p:cNvPr id="25" name="Text 23"/>
          <p:cNvSpPr/>
          <p:nvPr/>
        </p:nvSpPr>
        <p:spPr>
          <a:xfrm>
            <a:off x="5139214" y="335280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Diseño por consulta</a:t>
            </a:r>
            <a:endParaRPr lang="en-US" sz="1400" dirty="0"/>
          </a:p>
        </p:txBody>
      </p:sp>
      <p:sp>
        <p:nvSpPr>
          <p:cNvPr id="26" name="Text 24"/>
          <p:cNvSpPr/>
          <p:nvPr/>
        </p:nvSpPr>
        <p:spPr>
          <a:xfrm>
            <a:off x="5139214" y="361442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Primero, la pregunta</a:t>
            </a:r>
            <a:endParaRPr lang="en-US" sz="1200" dirty="0"/>
          </a:p>
        </p:txBody>
      </p:sp>
      <p:sp>
        <p:nvSpPr>
          <p:cNvPr id="27" name="Text 25"/>
          <p:cNvSpPr/>
          <p:nvPr/>
        </p:nvSpPr>
        <p:spPr>
          <a:xfrm>
            <a:off x="4656614" y="392938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8C38"/>
                </a:solidFill>
                <a:latin typeface="Space Grotesk" pitchFamily="34" charset="0"/>
                <a:ea typeface="Space Grotesk" pitchFamily="34" charset="-122"/>
                <a:cs typeface="Space Grotesk" pitchFamily="34" charset="-120"/>
              </a:rPr>
              <a:t>07</a:t>
            </a:r>
            <a:endParaRPr lang="en-US" sz="1600" dirty="0"/>
          </a:p>
        </p:txBody>
      </p:sp>
      <p:sp>
        <p:nvSpPr>
          <p:cNvPr id="28" name="Text 26"/>
          <p:cNvSpPr/>
          <p:nvPr/>
        </p:nvSpPr>
        <p:spPr>
          <a:xfrm>
            <a:off x="5139214" y="392938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Conexión .NET</a:t>
            </a:r>
            <a:endParaRPr lang="en-US" sz="1400" dirty="0"/>
          </a:p>
        </p:txBody>
      </p:sp>
      <p:sp>
        <p:nvSpPr>
          <p:cNvPr id="29" name="Text 27"/>
          <p:cNvSpPr/>
          <p:nvPr/>
        </p:nvSpPr>
        <p:spPr>
          <a:xfrm>
            <a:off x="5139214" y="419100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Driver de DataStax</a:t>
            </a:r>
            <a:endParaRPr lang="en-US" sz="1200" dirty="0"/>
          </a:p>
        </p:txBody>
      </p:sp>
      <p:sp>
        <p:nvSpPr>
          <p:cNvPr id="30" name="Text 28"/>
          <p:cNvSpPr/>
          <p:nvPr/>
        </p:nvSpPr>
        <p:spPr>
          <a:xfrm>
            <a:off x="4656614" y="450596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8C38"/>
                </a:solidFill>
                <a:latin typeface="Space Grotesk" pitchFamily="34" charset="0"/>
                <a:ea typeface="Space Grotesk" pitchFamily="34" charset="-122"/>
                <a:cs typeface="Space Grotesk" pitchFamily="34" charset="-120"/>
              </a:rPr>
              <a:t>08</a:t>
            </a:r>
            <a:endParaRPr lang="en-US" sz="1600" dirty="0"/>
          </a:p>
        </p:txBody>
      </p:sp>
      <p:sp>
        <p:nvSpPr>
          <p:cNvPr id="31" name="Text 29"/>
          <p:cNvSpPr/>
          <p:nvPr/>
        </p:nvSpPr>
        <p:spPr>
          <a:xfrm>
            <a:off x="5139214" y="450596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CRUD en C#</a:t>
            </a:r>
            <a:endParaRPr lang="en-US" sz="1400" dirty="0"/>
          </a:p>
        </p:txBody>
      </p:sp>
      <p:sp>
        <p:nvSpPr>
          <p:cNvPr id="32" name="Text 30"/>
          <p:cNvSpPr/>
          <p:nvPr/>
        </p:nvSpPr>
        <p:spPr>
          <a:xfrm>
            <a:off x="5139214" y="476758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Prepare, Bind y Execute</a:t>
            </a:r>
            <a:endParaRPr lang="en-US" sz="1200" dirty="0"/>
          </a:p>
        </p:txBody>
      </p:sp>
      <p:sp>
        <p:nvSpPr>
          <p:cNvPr id="33" name="Shape 31"/>
          <p:cNvSpPr/>
          <p:nvPr/>
        </p:nvSpPr>
        <p:spPr>
          <a:xfrm>
            <a:off x="7992507" y="1620520"/>
            <a:ext cx="3386693" cy="4165600"/>
          </a:xfrm>
          <a:prstGeom prst="roundRect">
            <a:avLst>
              <a:gd name="adj" fmla="val 3000"/>
            </a:avLst>
          </a:prstGeom>
          <a:solidFill>
            <a:srgbClr val="16212F"/>
          </a:solidFill>
          <a:ln/>
        </p:spPr>
      </p:sp>
      <p:sp>
        <p:nvSpPr>
          <p:cNvPr id="34" name="Shape 32"/>
          <p:cNvSpPr/>
          <p:nvPr/>
        </p:nvSpPr>
        <p:spPr>
          <a:xfrm>
            <a:off x="7992507" y="1620520"/>
            <a:ext cx="3386693" cy="4165600"/>
          </a:xfrm>
          <a:custGeom>
            <a:avLst/>
            <a:gdLst/>
            <a:ahLst/>
            <a:cxnLst/>
            <a:rect l="l" t="t" r="r" b="b"/>
            <a:pathLst>
              <a:path w="3386693" h="4165600">
                <a:moveTo>
                  <a:pt x="0" y="101600"/>
                </a:moveTo>
                <a:lnTo>
                  <a:pt x="0" y="101600"/>
                </a:lnTo>
                <a:arcTo hR="101600" wR="101600" stAng="10800000" swAng="5400000"/>
                <a:lnTo>
                  <a:pt x="3285093" y="0"/>
                </a:lnTo>
                <a:arcTo hR="101600" wR="101600" stAng="16200000" swAng="5400000"/>
                <a:lnTo>
                  <a:pt x="3386693" y="101600"/>
                </a:lnTo>
                <a:arcTo hR="63500" wR="101600" stAng="0" swAng="-5400000"/>
                <a:lnTo>
                  <a:pt x="101600" y="38100"/>
                </a:lnTo>
                <a:arcTo hR="63500" wR="101600" stAng="16200000" swAng="-5400000"/>
                <a:close/>
              </a:path>
            </a:pathLst>
          </a:custGeom>
          <a:solidFill>
            <a:srgbClr val="F4F1EA"/>
          </a:solidFill>
          <a:ln/>
        </p:spPr>
      </p:sp>
      <p:sp>
        <p:nvSpPr>
          <p:cNvPr id="35" name="Text 33"/>
          <p:cNvSpPr/>
          <p:nvPr/>
        </p:nvSpPr>
        <p:spPr>
          <a:xfrm>
            <a:off x="8246507" y="1884680"/>
            <a:ext cx="296505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4F1EA"/>
                </a:solidFill>
                <a:latin typeface="IBM Plex Sans" pitchFamily="34" charset="0"/>
                <a:ea typeface="IBM Plex Sans" pitchFamily="34" charset="-122"/>
                <a:cs typeface="IBM Plex Sans" pitchFamily="34" charset="-120"/>
              </a:rPr>
              <a:t>ASIER GARCÍA</a:t>
            </a:r>
            <a:endParaRPr lang="en-US" sz="1200" dirty="0"/>
          </a:p>
        </p:txBody>
      </p:sp>
      <p:sp>
        <p:nvSpPr>
          <p:cNvPr id="36" name="Text 34"/>
          <p:cNvSpPr/>
          <p:nvPr/>
        </p:nvSpPr>
        <p:spPr>
          <a:xfrm>
            <a:off x="8246507" y="219964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09</a:t>
            </a:r>
            <a:endParaRPr lang="en-US" sz="1600" dirty="0"/>
          </a:p>
        </p:txBody>
      </p:sp>
      <p:sp>
        <p:nvSpPr>
          <p:cNvPr id="37" name="Text 35"/>
          <p:cNvSpPr/>
          <p:nvPr/>
        </p:nvSpPr>
        <p:spPr>
          <a:xfrm>
            <a:off x="8729107" y="219964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Ventajas</a:t>
            </a:r>
            <a:endParaRPr lang="en-US" sz="1400" dirty="0"/>
          </a:p>
        </p:txBody>
      </p:sp>
      <p:sp>
        <p:nvSpPr>
          <p:cNvPr id="38" name="Text 36"/>
          <p:cNvSpPr/>
          <p:nvPr/>
        </p:nvSpPr>
        <p:spPr>
          <a:xfrm>
            <a:off x="8729107" y="246126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Escala y no se cae</a:t>
            </a:r>
            <a:endParaRPr lang="en-US" sz="1200" dirty="0"/>
          </a:p>
        </p:txBody>
      </p:sp>
      <p:sp>
        <p:nvSpPr>
          <p:cNvPr id="39" name="Text 37"/>
          <p:cNvSpPr/>
          <p:nvPr/>
        </p:nvSpPr>
        <p:spPr>
          <a:xfrm>
            <a:off x="8246507" y="277622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10</a:t>
            </a:r>
            <a:endParaRPr lang="en-US" sz="1600" dirty="0"/>
          </a:p>
        </p:txBody>
      </p:sp>
      <p:sp>
        <p:nvSpPr>
          <p:cNvPr id="40" name="Text 38"/>
          <p:cNvSpPr/>
          <p:nvPr/>
        </p:nvSpPr>
        <p:spPr>
          <a:xfrm>
            <a:off x="8729107" y="277622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Desventajas</a:t>
            </a:r>
            <a:endParaRPr lang="en-US" sz="1400" dirty="0"/>
          </a:p>
        </p:txBody>
      </p:sp>
      <p:sp>
        <p:nvSpPr>
          <p:cNvPr id="41" name="Text 39"/>
          <p:cNvSpPr/>
          <p:nvPr/>
        </p:nvSpPr>
        <p:spPr>
          <a:xfrm>
            <a:off x="8729107" y="303784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Sin JOIN ni claves ajenas</a:t>
            </a:r>
            <a:endParaRPr lang="en-US" sz="1200" dirty="0"/>
          </a:p>
        </p:txBody>
      </p:sp>
      <p:sp>
        <p:nvSpPr>
          <p:cNvPr id="42" name="Text 40"/>
          <p:cNvSpPr/>
          <p:nvPr/>
        </p:nvSpPr>
        <p:spPr>
          <a:xfrm>
            <a:off x="8246507" y="335280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11</a:t>
            </a:r>
            <a:endParaRPr lang="en-US" sz="1600" dirty="0"/>
          </a:p>
        </p:txBody>
      </p:sp>
      <p:sp>
        <p:nvSpPr>
          <p:cNvPr id="43" name="Text 41"/>
          <p:cNvSpPr/>
          <p:nvPr/>
        </p:nvSpPr>
        <p:spPr>
          <a:xfrm>
            <a:off x="8729107" y="335280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Quién lo usa</a:t>
            </a:r>
            <a:endParaRPr lang="en-US" sz="1400" dirty="0"/>
          </a:p>
        </p:txBody>
      </p:sp>
      <p:sp>
        <p:nvSpPr>
          <p:cNvPr id="44" name="Text 42"/>
          <p:cNvSpPr/>
          <p:nvPr/>
        </p:nvSpPr>
        <p:spPr>
          <a:xfrm>
            <a:off x="8729107" y="361442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Apple, Netflix, Facebook</a:t>
            </a:r>
            <a:endParaRPr lang="en-US" sz="1200" dirty="0"/>
          </a:p>
        </p:txBody>
      </p:sp>
      <p:sp>
        <p:nvSpPr>
          <p:cNvPr id="45" name="Text 43"/>
          <p:cNvSpPr/>
          <p:nvPr/>
        </p:nvSpPr>
        <p:spPr>
          <a:xfrm>
            <a:off x="8246507" y="392938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12</a:t>
            </a:r>
            <a:endParaRPr lang="en-US" sz="1600" dirty="0"/>
          </a:p>
        </p:txBody>
      </p:sp>
      <p:sp>
        <p:nvSpPr>
          <p:cNvPr id="46" name="Text 44"/>
          <p:cNvSpPr/>
          <p:nvPr/>
        </p:nvSpPr>
        <p:spPr>
          <a:xfrm>
            <a:off x="8729107" y="392938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Caso Discord</a:t>
            </a:r>
            <a:endParaRPr lang="en-US" sz="1400" dirty="0"/>
          </a:p>
        </p:txBody>
      </p:sp>
      <p:sp>
        <p:nvSpPr>
          <p:cNvPr id="47" name="Text 45"/>
          <p:cNvSpPr/>
          <p:nvPr/>
        </p:nvSpPr>
        <p:spPr>
          <a:xfrm>
            <a:off x="8729107" y="419100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De Cassandra a ScyllaDB</a:t>
            </a:r>
            <a:endParaRPr lang="en-US" sz="1200" dirty="0"/>
          </a:p>
        </p:txBody>
      </p:sp>
      <p:sp>
        <p:nvSpPr>
          <p:cNvPr id="48" name="Text 46"/>
          <p:cNvSpPr/>
          <p:nvPr/>
        </p:nvSpPr>
        <p:spPr>
          <a:xfrm>
            <a:off x="8246507" y="450596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13</a:t>
            </a:r>
            <a:endParaRPr lang="en-US" sz="1600" dirty="0"/>
          </a:p>
        </p:txBody>
      </p:sp>
      <p:sp>
        <p:nvSpPr>
          <p:cNvPr id="49" name="Text 47"/>
          <p:cNvSpPr/>
          <p:nvPr/>
        </p:nvSpPr>
        <p:spPr>
          <a:xfrm>
            <a:off x="8729107" y="450596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¿Cuál elijo?</a:t>
            </a:r>
            <a:endParaRPr lang="en-US" sz="1400" dirty="0"/>
          </a:p>
        </p:txBody>
      </p:sp>
      <p:sp>
        <p:nvSpPr>
          <p:cNvPr id="50" name="Text 48"/>
          <p:cNvSpPr/>
          <p:nvPr/>
        </p:nvSpPr>
        <p:spPr>
          <a:xfrm>
            <a:off x="8729107" y="476758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Cassandra o SQL Server</a:t>
            </a:r>
            <a:endParaRPr lang="en-US" sz="1200" dirty="0"/>
          </a:p>
        </p:txBody>
      </p:sp>
      <p:sp>
        <p:nvSpPr>
          <p:cNvPr id="51" name="Text 49"/>
          <p:cNvSpPr/>
          <p:nvPr/>
        </p:nvSpPr>
        <p:spPr>
          <a:xfrm>
            <a:off x="8246507" y="5082540"/>
            <a:ext cx="406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14</a:t>
            </a:r>
            <a:endParaRPr lang="en-US" sz="1600" dirty="0"/>
          </a:p>
        </p:txBody>
      </p:sp>
      <p:sp>
        <p:nvSpPr>
          <p:cNvPr id="52" name="Text 50"/>
          <p:cNvSpPr/>
          <p:nvPr/>
        </p:nvSpPr>
        <p:spPr>
          <a:xfrm>
            <a:off x="8729107" y="5082540"/>
            <a:ext cx="24679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Bibliografía</a:t>
            </a:r>
            <a:endParaRPr lang="en-US" sz="1400" dirty="0"/>
          </a:p>
        </p:txBody>
      </p:sp>
      <p:sp>
        <p:nvSpPr>
          <p:cNvPr id="53" name="Text 51"/>
          <p:cNvSpPr/>
          <p:nvPr/>
        </p:nvSpPr>
        <p:spPr>
          <a:xfrm>
            <a:off x="8729107" y="5344160"/>
            <a:ext cx="2467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Fuentes consultadas</a:t>
            </a:r>
            <a:endParaRPr lang="en-US" sz="1200" dirty="0"/>
          </a:p>
        </p:txBody>
      </p:sp>
      <p:sp>
        <p:nvSpPr>
          <p:cNvPr id="54" name="Text 52"/>
          <p:cNvSpPr/>
          <p:nvPr/>
        </p:nvSpPr>
        <p:spPr>
          <a:xfrm>
            <a:off x="812800" y="6238241"/>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02</a:t>
            </a:r>
            <a:endParaRPr lang="en-US" sz="1200" dirty="0"/>
          </a:p>
        </p:txBody>
      </p:sp>
      <p:sp>
        <p:nvSpPr>
          <p:cNvPr id="55" name="Text 53"/>
          <p:cNvSpPr/>
          <p:nvPr/>
        </p:nvSpPr>
        <p:spPr>
          <a:xfrm>
            <a:off x="812800" y="304800"/>
            <a:ext cx="459105" cy="325120"/>
          </a:xfrm>
          <a:custGeom>
            <a:avLst/>
            <a:gdLst/>
            <a:ahLst/>
            <a:cxnLst/>
            <a:rect l="l" t="t" r="r" b="b"/>
            <a:pathLst>
              <a:path w="459105" h="325120">
                <a:moveTo>
                  <a:pt x="162560" y="0"/>
                </a:moveTo>
                <a:lnTo>
                  <a:pt x="296545" y="0"/>
                </a:lnTo>
                <a:arcTo hR="162560" wR="162560" stAng="16200000" swAng="5400000"/>
                <a:lnTo>
                  <a:pt x="459105" y="162560"/>
                </a:lnTo>
                <a:arcTo hR="162560" wR="162560" stAng="0" swAng="5400000"/>
                <a:lnTo>
                  <a:pt x="162560" y="325120"/>
                </a:lnTo>
                <a:arcTo hR="162560" wR="162560" stAng="5400000" swAng="5400000"/>
                <a:lnTo>
                  <a:pt x="0" y="162560"/>
                </a:lnTo>
                <a:arcTo hR="162560" wR="162560" stAng="10800000" swAng="5400000"/>
                <a:close/>
              </a:path>
            </a:pathLst>
          </a:custGeom>
          <a:solidFill>
            <a:srgbClr val="3FC1C9"/>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00</a:t>
            </a:r>
            <a:endParaRPr lang="en-US" sz="1400" dirty="0"/>
          </a:p>
        </p:txBody>
      </p:sp>
      <p:sp>
        <p:nvSpPr>
          <p:cNvPr id="56" name="Text 54"/>
          <p:cNvSpPr/>
          <p:nvPr/>
        </p:nvSpPr>
        <p:spPr>
          <a:xfrm>
            <a:off x="1386205" y="360680"/>
            <a:ext cx="218160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7C4D1"/>
                </a:solidFill>
                <a:latin typeface="IBM Plex Sans" pitchFamily="34" charset="0"/>
                <a:ea typeface="IBM Plex Sans" pitchFamily="34" charset="-122"/>
                <a:cs typeface="IBM Plex Sans" pitchFamily="34" charset="-120"/>
              </a:rPr>
              <a:t>ÍNDICE · 14 PUNTOS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Cuatro familias NoSQL</a:t>
            </a:r>
            <a:endParaRPr lang="en-US" sz="3600" dirty="0"/>
          </a:p>
        </p:txBody>
      </p:sp>
      <p:sp>
        <p:nvSpPr>
          <p:cNvPr id="3" name="Text 1"/>
          <p:cNvSpPr/>
          <p:nvPr/>
        </p:nvSpPr>
        <p:spPr>
          <a:xfrm>
            <a:off x="812800" y="14173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4D1"/>
                </a:solidFill>
                <a:latin typeface="IBM Plex Sans" pitchFamily="34" charset="0"/>
                <a:ea typeface="IBM Plex Sans" pitchFamily="34" charset="-122"/>
                <a:cs typeface="IBM Plex Sans" pitchFamily="34" charset="-120"/>
              </a:rPr>
              <a:t>NoSQL significa “Not only SQL”: otras formas de guardar datos, sin tablas fijas.</a:t>
            </a:r>
            <a:endParaRPr lang="en-US" sz="1600" dirty="0"/>
          </a:p>
        </p:txBody>
      </p:sp>
      <p:sp>
        <p:nvSpPr>
          <p:cNvPr id="4" name="Shape 2"/>
          <p:cNvSpPr/>
          <p:nvPr/>
        </p:nvSpPr>
        <p:spPr>
          <a:xfrm>
            <a:off x="812800" y="2006600"/>
            <a:ext cx="2527300" cy="2694940"/>
          </a:xfrm>
          <a:prstGeom prst="roundRect">
            <a:avLst>
              <a:gd name="adj" fmla="val 4020"/>
            </a:avLst>
          </a:prstGeom>
          <a:solidFill>
            <a:srgbClr val="16212F"/>
          </a:solidFill>
          <a:ln/>
        </p:spPr>
      </p:sp>
      <p:pic>
        <p:nvPicPr>
          <p:cNvPr id="5" name="Image 0" descr="Book">    </p:cNvPr>
          <p:cNvPicPr>
            <a:picLocks noChangeAspect="1"/>
          </p:cNvPicPr>
          <p:nvPr/>
        </p:nvPicPr>
        <p:blipFill>
          <a:blip r:embed="rId1"/>
          <a:srcRect l="0" r="0" t="0" b="0"/>
          <a:stretch/>
        </p:blipFill>
        <p:spPr>
          <a:xfrm>
            <a:off x="1066800" y="2260600"/>
            <a:ext cx="355600" cy="355600"/>
          </a:xfrm>
          <a:prstGeom prst="rect">
            <a:avLst/>
          </a:prstGeom>
        </p:spPr>
      </p:pic>
      <p:sp>
        <p:nvSpPr>
          <p:cNvPr id="6" name="Text 3"/>
          <p:cNvSpPr/>
          <p:nvPr/>
        </p:nvSpPr>
        <p:spPr>
          <a:xfrm>
            <a:off x="1066800" y="2717800"/>
            <a:ext cx="2079879"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4F1EA"/>
                </a:solidFill>
                <a:latin typeface="IBM Plex Sans" pitchFamily="34" charset="0"/>
                <a:ea typeface="IBM Plex Sans" pitchFamily="34" charset="-122"/>
                <a:cs typeface="IBM Plex Sans" pitchFamily="34" charset="-120"/>
              </a:rPr>
              <a:t>Documental</a:t>
            </a:r>
            <a:endParaRPr lang="en-US" sz="2200" dirty="0"/>
          </a:p>
        </p:txBody>
      </p:sp>
      <p:sp>
        <p:nvSpPr>
          <p:cNvPr id="7" name="Text 4"/>
          <p:cNvSpPr/>
          <p:nvPr/>
        </p:nvSpPr>
        <p:spPr>
          <a:xfrm>
            <a:off x="1066800" y="3140711"/>
            <a:ext cx="20798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MongoDB</a:t>
            </a:r>
            <a:endParaRPr lang="en-US" sz="1200" dirty="0"/>
          </a:p>
        </p:txBody>
      </p:sp>
      <p:sp>
        <p:nvSpPr>
          <p:cNvPr id="8" name="Text 5"/>
          <p:cNvSpPr/>
          <p:nvPr/>
        </p:nvSpPr>
        <p:spPr>
          <a:xfrm>
            <a:off x="1066800" y="3455670"/>
            <a:ext cx="20798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Cada registro es un JSON con su propia forma.</a:t>
            </a:r>
            <a:endParaRPr lang="en-US" sz="1200" dirty="0"/>
          </a:p>
        </p:txBody>
      </p:sp>
      <p:sp>
        <p:nvSpPr>
          <p:cNvPr id="9" name="Shape 6"/>
          <p:cNvSpPr/>
          <p:nvPr/>
        </p:nvSpPr>
        <p:spPr>
          <a:xfrm>
            <a:off x="3492500" y="2006600"/>
            <a:ext cx="2527300" cy="2694940"/>
          </a:xfrm>
          <a:prstGeom prst="roundRect">
            <a:avLst>
              <a:gd name="adj" fmla="val 4020"/>
            </a:avLst>
          </a:prstGeom>
          <a:solidFill>
            <a:srgbClr val="16212F"/>
          </a:solidFill>
          <a:ln/>
        </p:spPr>
      </p:sp>
      <p:pic>
        <p:nvPicPr>
          <p:cNvPr id="10" name="Image 1" descr="Key">    </p:cNvPr>
          <p:cNvPicPr>
            <a:picLocks noChangeAspect="1"/>
          </p:cNvPicPr>
          <p:nvPr/>
        </p:nvPicPr>
        <p:blipFill>
          <a:blip r:embed="rId2"/>
          <a:srcRect l="0" r="0" t="0" b="0"/>
          <a:stretch/>
        </p:blipFill>
        <p:spPr>
          <a:xfrm>
            <a:off x="3746500" y="2260600"/>
            <a:ext cx="355600" cy="355600"/>
          </a:xfrm>
          <a:prstGeom prst="rect">
            <a:avLst/>
          </a:prstGeom>
        </p:spPr>
      </p:pic>
      <p:sp>
        <p:nvSpPr>
          <p:cNvPr id="11" name="Text 7"/>
          <p:cNvSpPr/>
          <p:nvPr/>
        </p:nvSpPr>
        <p:spPr>
          <a:xfrm>
            <a:off x="3746500" y="2717800"/>
            <a:ext cx="2079879"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4F1EA"/>
                </a:solidFill>
                <a:latin typeface="IBM Plex Sans" pitchFamily="34" charset="0"/>
                <a:ea typeface="IBM Plex Sans" pitchFamily="34" charset="-122"/>
                <a:cs typeface="IBM Plex Sans" pitchFamily="34" charset="-120"/>
              </a:rPr>
              <a:t>Clave-valor</a:t>
            </a:r>
            <a:endParaRPr lang="en-US" sz="2200" dirty="0"/>
          </a:p>
        </p:txBody>
      </p:sp>
      <p:sp>
        <p:nvSpPr>
          <p:cNvPr id="12" name="Text 8"/>
          <p:cNvSpPr/>
          <p:nvPr/>
        </p:nvSpPr>
        <p:spPr>
          <a:xfrm>
            <a:off x="3746500" y="3140711"/>
            <a:ext cx="20798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Redis</a:t>
            </a:r>
            <a:endParaRPr lang="en-US" sz="1200" dirty="0"/>
          </a:p>
        </p:txBody>
      </p:sp>
      <p:sp>
        <p:nvSpPr>
          <p:cNvPr id="13" name="Text 9"/>
          <p:cNvSpPr/>
          <p:nvPr/>
        </p:nvSpPr>
        <p:spPr>
          <a:xfrm>
            <a:off x="3746500" y="3455670"/>
            <a:ext cx="20798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Un diccionario gigante: clave → valor.</a:t>
            </a:r>
            <a:endParaRPr lang="en-US" sz="1200" dirty="0"/>
          </a:p>
        </p:txBody>
      </p:sp>
      <p:sp>
        <p:nvSpPr>
          <p:cNvPr id="14" name="Shape 10"/>
          <p:cNvSpPr/>
          <p:nvPr/>
        </p:nvSpPr>
        <p:spPr>
          <a:xfrm>
            <a:off x="6181725" y="2016125"/>
            <a:ext cx="2508250" cy="2675890"/>
          </a:xfrm>
          <a:prstGeom prst="roundRect">
            <a:avLst>
              <a:gd name="adj" fmla="val 3671"/>
            </a:avLst>
          </a:prstGeom>
          <a:solidFill>
            <a:srgbClr val="12303A"/>
          </a:solidFill>
          <a:ln w="19050">
            <a:solidFill>
              <a:srgbClr val="3FC1C9"/>
            </a:solidFill>
            <a:prstDash val="solid"/>
          </a:ln>
          <a:effectLst>
            <a:outerShdw sx="100000" sy="100000" kx="0" ky="0" algn="bl" rotWithShape="0" blurRad="304800" dist="0" dir="60000">
              <a:srgbClr val="3FC1C9">
                <a:alpha val="35000"/>
              </a:srgbClr>
            </a:outerShdw>
          </a:effectLst>
        </p:spPr>
      </p:sp>
      <p:pic>
        <p:nvPicPr>
          <p:cNvPr id="15" name="Image 2" descr="Database">    </p:cNvPr>
          <p:cNvPicPr>
            <a:picLocks noChangeAspect="1"/>
          </p:cNvPicPr>
          <p:nvPr/>
        </p:nvPicPr>
        <p:blipFill>
          <a:blip r:embed="rId3"/>
          <a:srcRect l="0" r="0" t="0" b="0"/>
          <a:stretch/>
        </p:blipFill>
        <p:spPr>
          <a:xfrm>
            <a:off x="6441440" y="2275841"/>
            <a:ext cx="355600" cy="355600"/>
          </a:xfrm>
          <a:prstGeom prst="rect">
            <a:avLst/>
          </a:prstGeom>
        </p:spPr>
      </p:pic>
      <p:sp>
        <p:nvSpPr>
          <p:cNvPr id="16" name="Text 11"/>
          <p:cNvSpPr/>
          <p:nvPr/>
        </p:nvSpPr>
        <p:spPr>
          <a:xfrm>
            <a:off x="6441440" y="2733041"/>
            <a:ext cx="2048485"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3FC1C9"/>
                </a:solidFill>
                <a:latin typeface="IBM Plex Sans" pitchFamily="34" charset="0"/>
                <a:ea typeface="IBM Plex Sans" pitchFamily="34" charset="-122"/>
                <a:cs typeface="IBM Plex Sans" pitchFamily="34" charset="-120"/>
              </a:rPr>
              <a:t>Columnas anchas</a:t>
            </a:r>
            <a:endParaRPr lang="en-US" sz="2200" dirty="0"/>
          </a:p>
        </p:txBody>
      </p:sp>
      <p:sp>
        <p:nvSpPr>
          <p:cNvPr id="17" name="Text 12"/>
          <p:cNvSpPr/>
          <p:nvPr/>
        </p:nvSpPr>
        <p:spPr>
          <a:xfrm>
            <a:off x="6441440" y="3477261"/>
            <a:ext cx="20484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Cassandra · nuestro motor</a:t>
            </a:r>
            <a:endParaRPr lang="en-US" sz="1200" dirty="0"/>
          </a:p>
        </p:txBody>
      </p:sp>
      <p:sp>
        <p:nvSpPr>
          <p:cNvPr id="18" name="Text 13"/>
          <p:cNvSpPr/>
          <p:nvPr/>
        </p:nvSpPr>
        <p:spPr>
          <a:xfrm>
            <a:off x="6441440" y="3792220"/>
            <a:ext cx="204848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4EA"/>
                </a:solidFill>
                <a:latin typeface="IBM Plex Sans" pitchFamily="34" charset="0"/>
                <a:ea typeface="IBM Plex Sans" pitchFamily="34" charset="-122"/>
                <a:cs typeface="IBM Plex Sans" pitchFamily="34" charset="-120"/>
              </a:rPr>
              <a:t>Filas agrupadas por una clave y repartidas entre muchos servidores.</a:t>
            </a:r>
            <a:endParaRPr lang="en-US" sz="1200" dirty="0"/>
          </a:p>
        </p:txBody>
      </p:sp>
      <p:sp>
        <p:nvSpPr>
          <p:cNvPr id="19" name="Shape 14"/>
          <p:cNvSpPr/>
          <p:nvPr/>
        </p:nvSpPr>
        <p:spPr>
          <a:xfrm>
            <a:off x="8851900" y="2006600"/>
            <a:ext cx="2527300" cy="2694940"/>
          </a:xfrm>
          <a:prstGeom prst="roundRect">
            <a:avLst>
              <a:gd name="adj" fmla="val 4020"/>
            </a:avLst>
          </a:prstGeom>
          <a:solidFill>
            <a:srgbClr val="16212F"/>
          </a:solidFill>
          <a:ln/>
        </p:spPr>
      </p:sp>
      <p:pic>
        <p:nvPicPr>
          <p:cNvPr id="20" name="Image 3" descr="Link">    </p:cNvPr>
          <p:cNvPicPr>
            <a:picLocks noChangeAspect="1"/>
          </p:cNvPicPr>
          <p:nvPr/>
        </p:nvPicPr>
        <p:blipFill>
          <a:blip r:embed="rId4"/>
          <a:srcRect l="0" r="0" t="0" b="0"/>
          <a:stretch/>
        </p:blipFill>
        <p:spPr>
          <a:xfrm>
            <a:off x="9105900" y="2260600"/>
            <a:ext cx="355600" cy="355600"/>
          </a:xfrm>
          <a:prstGeom prst="rect">
            <a:avLst/>
          </a:prstGeom>
        </p:spPr>
      </p:pic>
      <p:sp>
        <p:nvSpPr>
          <p:cNvPr id="21" name="Text 15"/>
          <p:cNvSpPr/>
          <p:nvPr/>
        </p:nvSpPr>
        <p:spPr>
          <a:xfrm>
            <a:off x="9105900" y="2717800"/>
            <a:ext cx="2079879"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4F1EA"/>
                </a:solidFill>
                <a:latin typeface="IBM Plex Sans" pitchFamily="34" charset="0"/>
                <a:ea typeface="IBM Plex Sans" pitchFamily="34" charset="-122"/>
                <a:cs typeface="IBM Plex Sans" pitchFamily="34" charset="-120"/>
              </a:rPr>
              <a:t>Grafos</a:t>
            </a:r>
            <a:endParaRPr lang="en-US" sz="2200" dirty="0"/>
          </a:p>
        </p:txBody>
      </p:sp>
      <p:sp>
        <p:nvSpPr>
          <p:cNvPr id="22" name="Text 16"/>
          <p:cNvSpPr/>
          <p:nvPr/>
        </p:nvSpPr>
        <p:spPr>
          <a:xfrm>
            <a:off x="9105900" y="3140711"/>
            <a:ext cx="20798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Neo4j</a:t>
            </a:r>
            <a:endParaRPr lang="en-US" sz="1200" dirty="0"/>
          </a:p>
        </p:txBody>
      </p:sp>
      <p:sp>
        <p:nvSpPr>
          <p:cNvPr id="23" name="Text 17"/>
          <p:cNvSpPr/>
          <p:nvPr/>
        </p:nvSpPr>
        <p:spPr>
          <a:xfrm>
            <a:off x="9105900" y="3455670"/>
            <a:ext cx="20798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Nodos y relaciones: quién conoce a quién.</a:t>
            </a:r>
            <a:endParaRPr lang="en-US" sz="1200" dirty="0"/>
          </a:p>
        </p:txBody>
      </p:sp>
      <p:sp>
        <p:nvSpPr>
          <p:cNvPr id="24" name="Text 18"/>
          <p:cNvSpPr/>
          <p:nvPr/>
        </p:nvSpPr>
        <p:spPr>
          <a:xfrm>
            <a:off x="812800" y="6238241"/>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03</a:t>
            </a:r>
            <a:endParaRPr lang="en-US" sz="1200" dirty="0"/>
          </a:p>
        </p:txBody>
      </p:sp>
      <p:sp>
        <p:nvSpPr>
          <p:cNvPr id="25" name="Text 19"/>
          <p:cNvSpPr/>
          <p:nvPr/>
        </p:nvSpPr>
        <p:spPr>
          <a:xfrm>
            <a:off x="812800" y="304800"/>
            <a:ext cx="424180" cy="325120"/>
          </a:xfrm>
          <a:custGeom>
            <a:avLst/>
            <a:gdLst/>
            <a:ahLst/>
            <a:cxnLst/>
            <a:rect l="l" t="t" r="r" b="b"/>
            <a:pathLst>
              <a:path w="424180" h="325120">
                <a:moveTo>
                  <a:pt x="162560" y="0"/>
                </a:moveTo>
                <a:lnTo>
                  <a:pt x="261620" y="0"/>
                </a:lnTo>
                <a:arcTo hR="162560" wR="162560" stAng="16200000" swAng="5400000"/>
                <a:lnTo>
                  <a:pt x="424180" y="162560"/>
                </a:lnTo>
                <a:arcTo hR="162560" wR="162560" stAng="0" swAng="5400000"/>
                <a:lnTo>
                  <a:pt x="162560" y="325120"/>
                </a:lnTo>
                <a:arcTo hR="162560" wR="162560" stAng="5400000" swAng="5400000"/>
                <a:lnTo>
                  <a:pt x="0" y="162560"/>
                </a:lnTo>
                <a:arcTo hR="162560" wR="162560" stAng="10800000" swAng="5400000"/>
                <a:close/>
              </a:path>
            </a:pathLst>
          </a:custGeom>
          <a:solidFill>
            <a:srgbClr val="3FC1C9"/>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01</a:t>
            </a:r>
            <a:endParaRPr lang="en-US" sz="1400" dirty="0"/>
          </a:p>
        </p:txBody>
      </p:sp>
      <p:sp>
        <p:nvSpPr>
          <p:cNvPr id="26" name="Text 20"/>
          <p:cNvSpPr/>
          <p:nvPr/>
        </p:nvSpPr>
        <p:spPr>
          <a:xfrm>
            <a:off x="1351280" y="360680"/>
            <a:ext cx="269633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7C4D1"/>
                </a:solidFill>
                <a:latin typeface="IBM Plex Sans" pitchFamily="34" charset="0"/>
                <a:ea typeface="IBM Plex Sans" pitchFamily="34" charset="-122"/>
                <a:cs typeface="IBM Plex Sans" pitchFamily="34" charset="-120"/>
              </a:rPr>
              <a:t>FAMILIAS NOSQL </a:t>
            </a:r>
            <a:r>
              <a:rPr lang="en-US" sz="1200" b="1" spc="150" kern="0" dirty="0">
                <a:solidFill>
                  <a:srgbClr val="8796A6"/>
                </a:solidFill>
                <a:latin typeface="IBM Plex Sans" pitchFamily="34" charset="0"/>
                <a:ea typeface="IBM Plex Sans" pitchFamily="34" charset="-122"/>
                <a:cs typeface="IBM Plex Sans" pitchFamily="34" charset="-120"/>
              </a:rPr>
              <a:t>· AITOR</a:t>
            </a:r>
            <a:endParaRPr lang="en-US" sz="1200" dirty="0"/>
          </a:p>
        </p:txBody>
      </p:sp>
      <p:sp>
        <p:nvSpPr>
          <p:cNvPr id="27" name="Shape 21"/>
          <p:cNvSpPr/>
          <p:nvPr/>
        </p:nvSpPr>
        <p:spPr>
          <a:xfrm>
            <a:off x="0" y="0"/>
            <a:ext cx="86995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5969000" y="1587500"/>
            <a:ext cx="5410200" cy="4127500"/>
          </a:xfrm>
          <a:prstGeom prst="rect">
            <a:avLst/>
          </a:prstGeom>
        </p:spPr>
      </p:pic>
      <p:sp>
        <p:nvSpPr>
          <p:cNvPr id="3"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Los datos viajan en particiones</a:t>
            </a:r>
            <a:endParaRPr lang="en-US" sz="3600" dirty="0"/>
          </a:p>
        </p:txBody>
      </p:sp>
      <p:sp>
        <p:nvSpPr>
          <p:cNvPr id="4" name="Text 1"/>
          <p:cNvSpPr/>
          <p:nvPr/>
        </p:nvSpPr>
        <p:spPr>
          <a:xfrm>
            <a:off x="812800" y="1620520"/>
            <a:ext cx="49707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7C4D1"/>
                </a:solidFill>
                <a:latin typeface="IBM Plex Sans" pitchFamily="34" charset="0"/>
                <a:ea typeface="IBM Plex Sans" pitchFamily="34" charset="-122"/>
                <a:cs typeface="IBM Plex Sans" pitchFamily="34" charset="-120"/>
              </a:rPr>
              <a:t>SQL Server: misma forma para todos</a:t>
            </a:r>
            <a:endParaRPr lang="en-US" sz="1600" dirty="0"/>
          </a:p>
        </p:txBody>
      </p:sp>
      <p:sp>
        <p:nvSpPr>
          <p:cNvPr id="5" name="Shape 2"/>
          <p:cNvSpPr/>
          <p:nvPr/>
        </p:nvSpPr>
        <p:spPr>
          <a:xfrm>
            <a:off x="812800" y="2057400"/>
            <a:ext cx="4826000" cy="1330960"/>
          </a:xfrm>
          <a:prstGeom prst="roundRect">
            <a:avLst>
              <a:gd name="adj" fmla="val 5725"/>
            </a:avLst>
          </a:prstGeom>
          <a:solidFill>
            <a:srgbClr val="16212F"/>
          </a:solidFill>
          <a:ln/>
        </p:spPr>
      </p:sp>
      <p:sp>
        <p:nvSpPr>
          <p:cNvPr id="6" name="Shape 3"/>
          <p:cNvSpPr/>
          <p:nvPr/>
        </p:nvSpPr>
        <p:spPr>
          <a:xfrm>
            <a:off x="812800" y="2057400"/>
            <a:ext cx="4826000" cy="1330960"/>
          </a:xfrm>
          <a:custGeom>
            <a:avLst/>
            <a:gdLst/>
            <a:ahLst/>
            <a:cxnLst/>
            <a:rect l="l" t="t" r="r" b="b"/>
            <a:pathLst>
              <a:path w="4826000" h="1330960">
                <a:moveTo>
                  <a:pt x="76200" y="1330960"/>
                </a:moveTo>
                <a:lnTo>
                  <a:pt x="76200" y="1330960"/>
                </a:lnTo>
                <a:arcTo hR="76200" wR="76200" stAng="5400000" swAng="5400000"/>
                <a:lnTo>
                  <a:pt x="0" y="76200"/>
                </a:lnTo>
                <a:arcTo hR="76200" wR="76200" stAng="10800000" swAng="5400000"/>
                <a:lnTo>
                  <a:pt x="4749800" y="0"/>
                </a:lnTo>
                <a:arcTo hR="76200" wR="76200" stAng="16200000" swAng="5400000"/>
                <a:lnTo>
                  <a:pt x="4826000" y="76200"/>
                </a:lnTo>
                <a:arcTo hR="66040" wR="76200" stAng="0" swAng="-5400000"/>
                <a:lnTo>
                  <a:pt x="76200" y="10160"/>
                </a:lnTo>
                <a:arcTo hR="66040" wR="66040" stAng="16200000" swAng="-5400000"/>
                <a:lnTo>
                  <a:pt x="10160" y="1254760"/>
                </a:lnTo>
                <a:arcTo hR="76200" wR="66040" stAng="10800000" swAng="-5400000"/>
                <a:close/>
              </a:path>
            </a:pathLst>
          </a:custGeom>
          <a:solidFill>
            <a:srgbClr val="FAF9F5">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067560"/>
          <a:ext cx="4815840" cy="1320800"/>
        </p:xfrm>
        <a:graphic>
          <a:graphicData uri="http://schemas.openxmlformats.org/drawingml/2006/table">
            <a:tbl>
              <a:tblPr/>
              <a:tblGrid>
                <a:gridCol w="674218"/>
                <a:gridCol w="1252118"/>
                <a:gridCol w="1637386"/>
                <a:gridCol w="1252118"/>
              </a:tblGrid>
              <a:tr h="330200">
                <a:tc>
                  <a:txBody>
                    <a:bodyPr/>
                    <a:lstStyle/>
                    <a:p>
                      <a:pPr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Id</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535E70"/>
                      </a:solidFill>
                      <a:prstDash val="solid"/>
                      <a:round/>
                      <a:headEnd type="none" w="med" len="med"/>
                      <a:tailEnd type="none" w="med" len="med"/>
                    </a:lnR>
                    <a:lnT w="0" cap="flat" cmpd="sng" algn="ctr">
                      <a:noFill/>
                    </a:lnT>
                    <a:lnB w="12700" cap="flat" cmpd="sng" algn="ctr">
                      <a:solidFill>
                        <a:srgbClr val="535E70"/>
                      </a:solidFill>
                      <a:prstDash val="solid"/>
                      <a:round/>
                      <a:headEnd type="none" w="med" len="med"/>
                      <a:tailEnd type="none" w="med" len="med"/>
                    </a:lnB>
                    <a:solidFill>
                      <a:srgbClr val="24324A"/>
                    </a:solidFill>
                  </a:tcPr>
                </a:tc>
                <a:tc>
                  <a:txBody>
                    <a:bodyPr/>
                    <a:lstStyle/>
                    <a:p>
                      <a:pPr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Nombre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535E70"/>
                      </a:solidFill>
                      <a:prstDash val="solid"/>
                      <a:round/>
                      <a:headEnd type="none" w="med" len="med"/>
                      <a:tailEnd type="none" w="med" len="med"/>
                    </a:lnL>
                    <a:lnR w="12700" cap="flat" cmpd="sng" algn="ctr">
                      <a:solidFill>
                        <a:srgbClr val="535E70"/>
                      </a:solidFill>
                      <a:prstDash val="solid"/>
                      <a:round/>
                      <a:headEnd type="none" w="med" len="med"/>
                      <a:tailEnd type="none" w="med" len="med"/>
                    </a:lnR>
                    <a:lnT w="0" cap="flat" cmpd="sng" algn="ctr">
                      <a:noFill/>
                    </a:lnT>
                    <a:lnB w="12700" cap="flat" cmpd="sng" algn="ctr">
                      <a:solidFill>
                        <a:srgbClr val="535E70"/>
                      </a:solidFill>
                      <a:prstDash val="solid"/>
                      <a:round/>
                      <a:headEnd type="none" w="med" len="med"/>
                      <a:tailEnd type="none" w="med" len="med"/>
                    </a:lnB>
                    <a:solidFill>
                      <a:srgbClr val="24324A"/>
                    </a:solidFill>
                  </a:tcPr>
                </a:tc>
                <a:tc>
                  <a:txBody>
                    <a:bodyPr/>
                    <a:lstStyle/>
                    <a:p>
                      <a:pPr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Teléfono</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535E70"/>
                      </a:solidFill>
                      <a:prstDash val="solid"/>
                      <a:round/>
                      <a:headEnd type="none" w="med" len="med"/>
                      <a:tailEnd type="none" w="med" len="med"/>
                    </a:lnL>
                    <a:lnR w="12700" cap="flat" cmpd="sng" algn="ctr">
                      <a:solidFill>
                        <a:srgbClr val="535E70"/>
                      </a:solidFill>
                      <a:prstDash val="solid"/>
                      <a:round/>
                      <a:headEnd type="none" w="med" len="med"/>
                      <a:tailEnd type="none" w="med" len="med"/>
                    </a:lnR>
                    <a:lnT w="0" cap="flat" cmpd="sng" algn="ctr">
                      <a:noFill/>
                    </a:lnT>
                    <a:lnB w="12700" cap="flat" cmpd="sng" algn="ctr">
                      <a:solidFill>
                        <a:srgbClr val="535E70"/>
                      </a:solidFill>
                      <a:prstDash val="solid"/>
                      <a:round/>
                      <a:headEnd type="none" w="med" len="med"/>
                      <a:tailEnd type="none" w="med" len="med"/>
                    </a:lnB>
                    <a:solidFill>
                      <a:srgbClr val="24324A"/>
                    </a:solidFill>
                  </a:tcPr>
                </a:tc>
                <a:tc>
                  <a:txBody>
                    <a:bodyPr/>
                    <a:lstStyle/>
                    <a:p>
                      <a:pPr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Twitter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535E70"/>
                      </a:solidFill>
                      <a:prstDash val="solid"/>
                      <a:round/>
                      <a:headEnd type="none" w="med" len="med"/>
                      <a:tailEnd type="none" w="med" len="med"/>
                    </a:lnL>
                    <a:lnR w="12700" cap="flat" cmpd="sng" algn="ctr">
                      <a:solidFill>
                        <a:srgbClr val="535E70"/>
                      </a:solidFill>
                      <a:prstDash val="solid"/>
                      <a:round/>
                      <a:headEnd type="none" w="med" len="med"/>
                      <a:tailEnd type="none" w="med" len="med"/>
                    </a:lnR>
                    <a:lnT w="0" cap="flat" cmpd="sng" algn="ctr">
                      <a:noFill/>
                    </a:lnT>
                    <a:lnB w="12700" cap="flat" cmpd="sng" algn="ctr">
                      <a:solidFill>
                        <a:srgbClr val="535E70"/>
                      </a:solidFill>
                      <a:prstDash val="solid"/>
                      <a:round/>
                      <a:headEnd type="none" w="med" len="med"/>
                      <a:tailEnd type="none" w="med" len="med"/>
                    </a:lnB>
                    <a:solidFill>
                      <a:srgbClr val="24324A"/>
                    </a:solidFill>
                  </a:tcPr>
                </a:tc>
              </a:tr>
              <a:tr h="330200">
                <a:tc>
                  <a:txBody>
                    <a:bodyPr/>
                    <a:lstStyle/>
                    <a:p>
                      <a:pPr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1</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48515B"/>
                      </a:solidFill>
                      <a:prstDash val="solid"/>
                      <a:round/>
                      <a:headEnd type="none" w="med" len="med"/>
                      <a:tailEnd type="none" w="med" len="med"/>
                    </a:lnR>
                    <a:lnT w="12700" cap="flat" cmpd="sng" algn="ctr">
                      <a:solidFill>
                        <a:srgbClr val="535E70"/>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Ana</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535E70"/>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600 111 222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535E70"/>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NULL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535E70"/>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r>
              <a:tr h="330200">
                <a:tc>
                  <a:txBody>
                    <a:bodyPr/>
                    <a:lstStyle/>
                    <a:p>
                      <a:pPr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2</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48515B"/>
                      </a:solidFill>
                      <a:prstDash val="solid"/>
                      <a:round/>
                      <a:headEnd type="none" w="med" len="med"/>
                      <a:tailEnd type="none" w="med" len="med"/>
                    </a:lnR>
                    <a:lnT w="12700" cap="flat" cmpd="sng" algn="ctr">
                      <a:solidFill>
                        <a:srgbClr val="48515B"/>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Luis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48515B"/>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NULL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48515B"/>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@luis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48515B"/>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r>
              <a:tr h="330200">
                <a:tc>
                  <a:txBody>
                    <a:bodyPr/>
                    <a:lstStyle/>
                    <a:p>
                      <a:pPr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3</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48515B"/>
                      </a:solidFill>
                      <a:prstDash val="solid"/>
                      <a:round/>
                      <a:headEnd type="none" w="med" len="med"/>
                      <a:tailEnd type="none" w="med" len="med"/>
                    </a:lnR>
                    <a:lnT w="12700" cap="flat" cmpd="sng" algn="ctr">
                      <a:solidFill>
                        <a:srgbClr val="48515B"/>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Marta</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48515B"/>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NULL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48515B"/>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c>
                  <a:txBody>
                    <a:bodyPr/>
                    <a:lstStyle/>
                    <a:p>
                      <a:pP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NULL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8515B"/>
                      </a:solidFill>
                      <a:prstDash val="solid"/>
                      <a:round/>
                      <a:headEnd type="none" w="med" len="med"/>
                      <a:tailEnd type="none" w="med" len="med"/>
                    </a:lnL>
                    <a:lnR w="12700" cap="flat" cmpd="sng" algn="ctr">
                      <a:solidFill>
                        <a:srgbClr val="48515B"/>
                      </a:solidFill>
                      <a:prstDash val="solid"/>
                      <a:round/>
                      <a:headEnd type="none" w="med" len="med"/>
                      <a:tailEnd type="none" w="med" len="med"/>
                    </a:lnR>
                    <a:lnT w="12700" cap="flat" cmpd="sng" algn="ctr">
                      <a:solidFill>
                        <a:srgbClr val="48515B"/>
                      </a:solidFill>
                      <a:prstDash val="solid"/>
                      <a:round/>
                      <a:headEnd type="none" w="med" len="med"/>
                      <a:tailEnd type="none" w="med" len="med"/>
                    </a:lnT>
                    <a:lnB w="12700" cap="flat" cmpd="sng" algn="ctr">
                      <a:solidFill>
                        <a:srgbClr val="48515B"/>
                      </a:solidFill>
                      <a:prstDash val="solid"/>
                      <a:round/>
                      <a:headEnd type="none" w="med" len="med"/>
                      <a:tailEnd type="none" w="med" len="med"/>
                    </a:lnB>
                  </a:tcPr>
                </a:tc>
              </a:tr>
            </a:tbl>
          </a:graphicData>
        </a:graphic>
      </p:graphicFrame>
      <p:sp>
        <p:nvSpPr>
          <p:cNvPr id="8" name="Text 4"/>
          <p:cNvSpPr/>
          <p:nvPr/>
        </p:nvSpPr>
        <p:spPr>
          <a:xfrm>
            <a:off x="812800" y="3540761"/>
            <a:ext cx="49707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Todas las filas tienen todas las columnas; lo que falta, NULL. Todo en un servidor.</a:t>
            </a:r>
            <a:endParaRPr lang="en-US" sz="1200" dirty="0"/>
          </a:p>
        </p:txBody>
      </p:sp>
      <p:sp>
        <p:nvSpPr>
          <p:cNvPr id="9" name="Text 5"/>
          <p:cNvSpPr/>
          <p:nvPr/>
        </p:nvSpPr>
        <p:spPr>
          <a:xfrm>
            <a:off x="812800" y="4119880"/>
            <a:ext cx="4970780"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1EA"/>
                </a:solidFill>
                <a:latin typeface="IBM Plex Sans" pitchFamily="34" charset="0"/>
                <a:ea typeface="IBM Plex Sans" pitchFamily="34" charset="-122"/>
                <a:cs typeface="IBM Plex Sans" pitchFamily="34" charset="-120"/>
              </a:rPr>
              <a:t>En Cassandra, la </a:t>
            </a:r>
            <a:r>
              <a:rPr lang="en-US" sz="1600" b="1" dirty="0">
                <a:solidFill>
                  <a:srgbClr val="3FC1C9"/>
                </a:solidFill>
                <a:latin typeface="IBM Plex Sans" pitchFamily="34" charset="0"/>
                <a:ea typeface="IBM Plex Sans" pitchFamily="34" charset="-122"/>
                <a:cs typeface="IBM Plex Sans" pitchFamily="34" charset="-120"/>
              </a:rPr>
              <a:t>clave de partición</a:t>
            </a:r>
            <a:r>
              <a:rPr lang="en-US" sz="1600" dirty="0">
                <a:solidFill>
                  <a:srgbClr val="F4F1EA"/>
                </a:solidFill>
                <a:latin typeface="IBM Plex Sans" pitchFamily="34" charset="0"/>
                <a:ea typeface="IBM Plex Sans" pitchFamily="34" charset="-122"/>
                <a:cs typeface="IBM Plex Sans" pitchFamily="34" charset="-120"/>
              </a:rPr>
              <a:t> decide en qué servidor vive cada dato, y cada fila guarda solo sus columnas.</a:t>
            </a:r>
            <a:endParaRPr lang="en-US" sz="1600" dirty="0"/>
          </a:p>
        </p:txBody>
      </p:sp>
      <p:sp>
        <p:nvSpPr>
          <p:cNvPr id="10" name="Text 6"/>
          <p:cNvSpPr/>
          <p:nvPr/>
        </p:nvSpPr>
        <p:spPr>
          <a:xfrm>
            <a:off x="812800" y="6238239"/>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04</a:t>
            </a:r>
            <a:endParaRPr lang="en-US" sz="1200" dirty="0"/>
          </a:p>
        </p:txBody>
      </p:sp>
      <p:sp>
        <p:nvSpPr>
          <p:cNvPr id="11" name="Text 7"/>
          <p:cNvSpPr/>
          <p:nvPr/>
        </p:nvSpPr>
        <p:spPr>
          <a:xfrm>
            <a:off x="812800" y="304800"/>
            <a:ext cx="449501" cy="325120"/>
          </a:xfrm>
          <a:custGeom>
            <a:avLst/>
            <a:gdLst/>
            <a:ahLst/>
            <a:cxnLst/>
            <a:rect l="l" t="t" r="r" b="b"/>
            <a:pathLst>
              <a:path w="449501" h="325120">
                <a:moveTo>
                  <a:pt x="162560" y="0"/>
                </a:moveTo>
                <a:lnTo>
                  <a:pt x="286941" y="0"/>
                </a:lnTo>
                <a:arcTo hR="162560" wR="162560" stAng="16200000" swAng="5400000"/>
                <a:lnTo>
                  <a:pt x="449501" y="162560"/>
                </a:lnTo>
                <a:arcTo hR="162560" wR="162560" stAng="0" swAng="5400000"/>
                <a:lnTo>
                  <a:pt x="162560" y="325120"/>
                </a:lnTo>
                <a:arcTo hR="162560" wR="162560" stAng="5400000" swAng="5400000"/>
                <a:lnTo>
                  <a:pt x="0" y="162560"/>
                </a:lnTo>
                <a:arcTo hR="162560" wR="162560" stAng="10800000" swAng="5400000"/>
                <a:close/>
              </a:path>
            </a:pathLst>
          </a:custGeom>
          <a:solidFill>
            <a:srgbClr val="3FC1C9"/>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02</a:t>
            </a:r>
            <a:endParaRPr lang="en-US" sz="1400" dirty="0"/>
          </a:p>
        </p:txBody>
      </p:sp>
      <p:sp>
        <p:nvSpPr>
          <p:cNvPr id="12" name="Text 8"/>
          <p:cNvSpPr/>
          <p:nvPr/>
        </p:nvSpPr>
        <p:spPr>
          <a:xfrm>
            <a:off x="1376601" y="360680"/>
            <a:ext cx="298618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7C4D1"/>
                </a:solidFill>
                <a:latin typeface="IBM Plex Sans" pitchFamily="34" charset="0"/>
                <a:ea typeface="IBM Plex Sans" pitchFamily="34" charset="-122"/>
                <a:cs typeface="IBM Plex Sans" pitchFamily="34" charset="-120"/>
              </a:rPr>
              <a:t>COLUMNAS ANCHAS </a:t>
            </a:r>
            <a:r>
              <a:rPr lang="en-US" sz="1200" b="1" spc="150" kern="0" dirty="0">
                <a:solidFill>
                  <a:srgbClr val="8796A6"/>
                </a:solidFill>
                <a:latin typeface="IBM Plex Sans" pitchFamily="34" charset="0"/>
                <a:ea typeface="IBM Plex Sans" pitchFamily="34" charset="-122"/>
                <a:cs typeface="IBM Plex Sans" pitchFamily="34" charset="-120"/>
              </a:rPr>
              <a:t>· AITOR</a:t>
            </a:r>
            <a:endParaRPr lang="en-US" sz="1200" dirty="0"/>
          </a:p>
        </p:txBody>
      </p:sp>
      <p:sp>
        <p:nvSpPr>
          <p:cNvPr id="13" name="Shape 9"/>
          <p:cNvSpPr/>
          <p:nvPr/>
        </p:nvSpPr>
        <p:spPr>
          <a:xfrm>
            <a:off x="0" y="0"/>
            <a:ext cx="173990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5664200" y="812800"/>
            <a:ext cx="5715000" cy="5232400"/>
          </a:xfrm>
          <a:prstGeom prst="rect">
            <a:avLst/>
          </a:prstGeom>
        </p:spPr>
      </p:pic>
      <p:sp>
        <p:nvSpPr>
          <p:cNvPr id="3" name="Text 0"/>
          <p:cNvSpPr/>
          <p:nvPr>
            <p:ph type="title"/>
          </p:nvPr>
        </p:nvSpPr>
        <p:spPr>
          <a:xfrm>
            <a:off x="812800" y="812800"/>
            <a:ext cx="483997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Un anillo sin jefe</a:t>
            </a:r>
            <a:endParaRPr lang="en-US" sz="3600" dirty="0"/>
          </a:p>
        </p:txBody>
      </p:sp>
      <p:sp>
        <p:nvSpPr>
          <p:cNvPr id="4" name="Text 1"/>
          <p:cNvSpPr/>
          <p:nvPr/>
        </p:nvSpPr>
        <p:spPr>
          <a:xfrm>
            <a:off x="812800" y="1620521"/>
            <a:ext cx="431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FC1C9"/>
                </a:solidFill>
                <a:latin typeface="Space Grotesk" pitchFamily="34" charset="0"/>
                <a:ea typeface="Space Grotesk" pitchFamily="34" charset="-122"/>
                <a:cs typeface="Space Grotesk" pitchFamily="34" charset="-120"/>
              </a:rPr>
              <a:t>1</a:t>
            </a:r>
            <a:endParaRPr lang="en-US" sz="2200" dirty="0"/>
          </a:p>
        </p:txBody>
      </p:sp>
      <p:sp>
        <p:nvSpPr>
          <p:cNvPr id="5" name="Text 2"/>
          <p:cNvSpPr/>
          <p:nvPr/>
        </p:nvSpPr>
        <p:spPr>
          <a:xfrm>
            <a:off x="1346200" y="1620521"/>
            <a:ext cx="4159758"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6E4EA"/>
                </a:solidFill>
                <a:latin typeface="IBM Plex Sans" pitchFamily="34" charset="0"/>
                <a:ea typeface="IBM Plex Sans" pitchFamily="34" charset="-122"/>
                <a:cs typeface="IBM Plex Sans" pitchFamily="34" charset="-120"/>
              </a:rPr>
              <a:t>Todos los nodos son iguales: cualquiera recibe la escritura.</a:t>
            </a:r>
            <a:endParaRPr lang="en-US" sz="1600" dirty="0"/>
          </a:p>
        </p:txBody>
      </p:sp>
      <p:sp>
        <p:nvSpPr>
          <p:cNvPr id="6" name="Text 3"/>
          <p:cNvSpPr/>
          <p:nvPr/>
        </p:nvSpPr>
        <p:spPr>
          <a:xfrm>
            <a:off x="812800" y="2372361"/>
            <a:ext cx="431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8C38"/>
                </a:solidFill>
                <a:latin typeface="Space Grotesk" pitchFamily="34" charset="0"/>
                <a:ea typeface="Space Grotesk" pitchFamily="34" charset="-122"/>
                <a:cs typeface="Space Grotesk" pitchFamily="34" charset="-120"/>
              </a:rPr>
              <a:t>2</a:t>
            </a:r>
            <a:endParaRPr lang="en-US" sz="2200" dirty="0"/>
          </a:p>
        </p:txBody>
      </p:sp>
      <p:sp>
        <p:nvSpPr>
          <p:cNvPr id="7" name="Text 4"/>
          <p:cNvSpPr/>
          <p:nvPr/>
        </p:nvSpPr>
        <p:spPr>
          <a:xfrm>
            <a:off x="1346200" y="2372361"/>
            <a:ext cx="4159758"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6E4EA"/>
                </a:solidFill>
                <a:latin typeface="IBM Plex Sans" pitchFamily="34" charset="0"/>
                <a:ea typeface="IBM Plex Sans" pitchFamily="34" charset="-122"/>
                <a:cs typeface="IBM Plex Sans" pitchFamily="34" charset="-120"/>
              </a:rPr>
              <a:t>El dato se guarda en 3 nodos (factor de replicación 3).</a:t>
            </a:r>
            <a:endParaRPr lang="en-US" sz="1600" dirty="0"/>
          </a:p>
        </p:txBody>
      </p:sp>
      <p:sp>
        <p:nvSpPr>
          <p:cNvPr id="8" name="Text 5"/>
          <p:cNvSpPr/>
          <p:nvPr/>
        </p:nvSpPr>
        <p:spPr>
          <a:xfrm>
            <a:off x="812800" y="3124200"/>
            <a:ext cx="431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7EE0A1"/>
                </a:solidFill>
                <a:latin typeface="Space Grotesk" pitchFamily="34" charset="0"/>
                <a:ea typeface="Space Grotesk" pitchFamily="34" charset="-122"/>
                <a:cs typeface="Space Grotesk" pitchFamily="34" charset="-120"/>
              </a:rPr>
              <a:t>3</a:t>
            </a:r>
            <a:endParaRPr lang="en-US" sz="2200" dirty="0"/>
          </a:p>
        </p:txBody>
      </p:sp>
      <p:sp>
        <p:nvSpPr>
          <p:cNvPr id="9" name="Text 6"/>
          <p:cNvSpPr/>
          <p:nvPr/>
        </p:nvSpPr>
        <p:spPr>
          <a:xfrm>
            <a:off x="1346200" y="3124200"/>
            <a:ext cx="4159758"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6E4EA"/>
                </a:solidFill>
                <a:latin typeface="IBM Plex Sans" pitchFamily="34" charset="0"/>
                <a:ea typeface="IBM Plex Sans" pitchFamily="34" charset="-122"/>
                <a:cs typeface="IBM Plex Sans" pitchFamily="34" charset="-120"/>
              </a:rPr>
              <a:t>Si un nodo cae, otra copia responde. La app ni se entera.</a:t>
            </a:r>
            <a:endParaRPr lang="en-US" sz="1600" dirty="0"/>
          </a:p>
        </p:txBody>
      </p:sp>
      <p:sp>
        <p:nvSpPr>
          <p:cNvPr id="10" name="Text 7"/>
          <p:cNvSpPr/>
          <p:nvPr/>
        </p:nvSpPr>
        <p:spPr>
          <a:xfrm>
            <a:off x="812800" y="6238239"/>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05</a:t>
            </a:r>
            <a:endParaRPr lang="en-US" sz="1200" dirty="0"/>
          </a:p>
        </p:txBody>
      </p:sp>
      <p:sp>
        <p:nvSpPr>
          <p:cNvPr id="11" name="Text 8"/>
          <p:cNvSpPr/>
          <p:nvPr/>
        </p:nvSpPr>
        <p:spPr>
          <a:xfrm>
            <a:off x="812800" y="304800"/>
            <a:ext cx="451961" cy="325120"/>
          </a:xfrm>
          <a:custGeom>
            <a:avLst/>
            <a:gdLst/>
            <a:ahLst/>
            <a:cxnLst/>
            <a:rect l="l" t="t" r="r" b="b"/>
            <a:pathLst>
              <a:path w="451961" h="325120">
                <a:moveTo>
                  <a:pt x="162560" y="0"/>
                </a:moveTo>
                <a:lnTo>
                  <a:pt x="289401" y="0"/>
                </a:lnTo>
                <a:arcTo hR="162560" wR="162560" stAng="16200000" swAng="5400000"/>
                <a:lnTo>
                  <a:pt x="451961" y="162560"/>
                </a:lnTo>
                <a:arcTo hR="162560" wR="162560" stAng="0" swAng="5400000"/>
                <a:lnTo>
                  <a:pt x="162560" y="325120"/>
                </a:lnTo>
                <a:arcTo hR="162560" wR="162560" stAng="5400000" swAng="5400000"/>
                <a:lnTo>
                  <a:pt x="0" y="162560"/>
                </a:lnTo>
                <a:arcTo hR="162560" wR="162560" stAng="10800000" swAng="5400000"/>
                <a:close/>
              </a:path>
            </a:pathLst>
          </a:custGeom>
          <a:solidFill>
            <a:srgbClr val="3FC1C9"/>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03</a:t>
            </a:r>
            <a:endParaRPr lang="en-US" sz="1400" dirty="0"/>
          </a:p>
        </p:txBody>
      </p:sp>
      <p:sp>
        <p:nvSpPr>
          <p:cNvPr id="12" name="Text 9"/>
          <p:cNvSpPr/>
          <p:nvPr/>
        </p:nvSpPr>
        <p:spPr>
          <a:xfrm>
            <a:off x="1379061" y="360682"/>
            <a:ext cx="198548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7C4D1"/>
                </a:solidFill>
                <a:latin typeface="IBM Plex Sans" pitchFamily="34" charset="0"/>
                <a:ea typeface="IBM Plex Sans" pitchFamily="34" charset="-122"/>
                <a:cs typeface="IBM Plex Sans" pitchFamily="34" charset="-120"/>
              </a:rPr>
              <a:t>EL ANILLO </a:t>
            </a:r>
            <a:r>
              <a:rPr lang="en-US" sz="1200" b="1" spc="150" kern="0" dirty="0">
                <a:solidFill>
                  <a:srgbClr val="8796A6"/>
                </a:solidFill>
                <a:latin typeface="IBM Plex Sans" pitchFamily="34" charset="0"/>
                <a:ea typeface="IBM Plex Sans" pitchFamily="34" charset="-122"/>
                <a:cs typeface="IBM Plex Sans" pitchFamily="34" charset="-120"/>
              </a:rPr>
              <a:t>· AITOR</a:t>
            </a:r>
            <a:endParaRPr lang="en-US" sz="1200" dirty="0"/>
          </a:p>
        </p:txBody>
      </p:sp>
      <p:sp>
        <p:nvSpPr>
          <p:cNvPr id="13" name="Shape 10"/>
          <p:cNvSpPr/>
          <p:nvPr/>
        </p:nvSpPr>
        <p:spPr>
          <a:xfrm>
            <a:off x="0" y="0"/>
            <a:ext cx="2609850" cy="63500"/>
          </a:xfrm>
          <a:prstGeom prst="rect">
            <a:avLst/>
          </a:prstGeom>
          <a:gradFill rotWithShape="1">
            <a:gsLst>
              <a:gs pos="0">
                <a:srgbClr val="3FC1C9"/>
              </a:gs>
              <a:gs pos="100000">
                <a:srgbClr val="F28C38"/>
              </a:gs>
            </a:gsLst>
            <a:lin ang="0" scaled="0"/>
          </a:gradFill>
          <a:ln/>
        </p:spPr>
      </p:sp>
      <p:sp>
        <p:nvSpPr>
          <p:cNvPr id="14" name="Text 11"/>
          <p:cNvSpPr/>
          <p:nvPr/>
        </p:nvSpPr>
        <p:spPr>
          <a:xfrm>
            <a:off x="812800" y="5372100"/>
            <a:ext cx="4709160" cy="274320"/>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0E1520"/>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 Abrir el laboratorio 3D interactivo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812800" y="1619250"/>
            <a:ext cx="10566400" cy="3873500"/>
          </a:xfrm>
          <a:prstGeom prst="rect">
            <a:avLst/>
          </a:prstGeom>
        </p:spPr>
      </p:pic>
      <p:sp>
        <p:nvSpPr>
          <p:cNvPr id="3"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E"/>
                </a:solidFill>
                <a:latin typeface="Space Grotesk" pitchFamily="34" charset="0"/>
                <a:ea typeface="Space Grotesk" pitchFamily="34" charset="-122"/>
                <a:cs typeface="Space Grotesk" pitchFamily="34" charset="-120"/>
              </a:rPr>
              <a:t>De SQL Server a Cassandra</a:t>
            </a:r>
            <a:endParaRPr lang="en-US" sz="3600" dirty="0"/>
          </a:p>
        </p:txBody>
      </p:sp>
      <p:sp>
        <p:nvSpPr>
          <p:cNvPr id="4" name="Text 1"/>
          <p:cNvSpPr/>
          <p:nvPr/>
        </p:nvSpPr>
        <p:spPr>
          <a:xfrm>
            <a:off x="812800" y="6238239"/>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06</a:t>
            </a:r>
            <a:endParaRPr lang="en-US" sz="1200" dirty="0"/>
          </a:p>
        </p:txBody>
      </p:sp>
      <p:sp>
        <p:nvSpPr>
          <p:cNvPr id="5" name="Text 2"/>
          <p:cNvSpPr/>
          <p:nvPr/>
        </p:nvSpPr>
        <p:spPr>
          <a:xfrm>
            <a:off x="812800" y="304800"/>
            <a:ext cx="456962" cy="325120"/>
          </a:xfrm>
          <a:custGeom>
            <a:avLst/>
            <a:gdLst/>
            <a:ahLst/>
            <a:cxnLst/>
            <a:rect l="l" t="t" r="r" b="b"/>
            <a:pathLst>
              <a:path w="456962" h="325120">
                <a:moveTo>
                  <a:pt x="162560" y="0"/>
                </a:moveTo>
                <a:lnTo>
                  <a:pt x="294402" y="0"/>
                </a:lnTo>
                <a:arcTo hR="162560" wR="162560" stAng="16200000" swAng="5400000"/>
                <a:lnTo>
                  <a:pt x="456962" y="162560"/>
                </a:lnTo>
                <a:arcTo hR="162560" wR="162560" stAng="0" swAng="5400000"/>
                <a:lnTo>
                  <a:pt x="162560" y="325120"/>
                </a:lnTo>
                <a:arcTo hR="162560" wR="162560" stAng="5400000" swAng="5400000"/>
                <a:lnTo>
                  <a:pt x="0" y="162560"/>
                </a:lnTo>
                <a:arcTo hR="162560" wR="162560" stAng="10800000" swAng="5400000"/>
                <a:close/>
              </a:path>
            </a:pathLst>
          </a:custGeom>
          <a:solidFill>
            <a:srgbClr val="F28C38"/>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04</a:t>
            </a:r>
            <a:endParaRPr lang="en-US" sz="1400" dirty="0"/>
          </a:p>
        </p:txBody>
      </p:sp>
      <p:sp>
        <p:nvSpPr>
          <p:cNvPr id="6" name="Text 3"/>
          <p:cNvSpPr/>
          <p:nvPr/>
        </p:nvSpPr>
        <p:spPr>
          <a:xfrm>
            <a:off x="1384062" y="360682"/>
            <a:ext cx="24915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3"/>
                </a:solidFill>
                <a:latin typeface="IBM Plex Sans" pitchFamily="34" charset="0"/>
                <a:ea typeface="IBM Plex Sans" pitchFamily="34" charset="-122"/>
                <a:cs typeface="IBM Plex Sans" pitchFamily="34" charset="-120"/>
              </a:rPr>
              <a:t>DICCIONARIO </a:t>
            </a:r>
            <a:r>
              <a:rPr lang="en-US" sz="1200" b="1" spc="150" kern="0" dirty="0">
                <a:solidFill>
                  <a:srgbClr val="8796A6"/>
                </a:solidFill>
                <a:latin typeface="IBM Plex Sans" pitchFamily="34" charset="0"/>
                <a:ea typeface="IBM Plex Sans" pitchFamily="34" charset="-122"/>
                <a:cs typeface="IBM Plex Sans" pitchFamily="34" charset="-120"/>
              </a:rPr>
              <a:t>· DANIEL</a:t>
            </a:r>
            <a:endParaRPr lang="en-US" sz="1200" dirty="0"/>
          </a:p>
        </p:txBody>
      </p:sp>
      <p:sp>
        <p:nvSpPr>
          <p:cNvPr id="7" name="Shape 4"/>
          <p:cNvSpPr/>
          <p:nvPr/>
        </p:nvSpPr>
        <p:spPr>
          <a:xfrm>
            <a:off x="0" y="0"/>
            <a:ext cx="348615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812800" y="1568450"/>
            <a:ext cx="10566400" cy="3556000"/>
          </a:xfrm>
          <a:prstGeom prst="rect">
            <a:avLst/>
          </a:prstGeom>
        </p:spPr>
      </p:pic>
      <p:sp>
        <p:nvSpPr>
          <p:cNvPr id="3"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E"/>
                </a:solidFill>
                <a:latin typeface="Space Grotesk" pitchFamily="34" charset="0"/>
                <a:ea typeface="Space Grotesk" pitchFamily="34" charset="-122"/>
                <a:cs typeface="Space Grotesk" pitchFamily="34" charset="-120"/>
              </a:rPr>
              <a:t>La tabla Personas, en los dos mundos</a:t>
            </a:r>
            <a:endParaRPr lang="en-US" sz="3600" dirty="0"/>
          </a:p>
        </p:txBody>
      </p:sp>
      <p:sp>
        <p:nvSpPr>
          <p:cNvPr id="4" name="Text 1"/>
          <p:cNvSpPr/>
          <p:nvPr/>
        </p:nvSpPr>
        <p:spPr>
          <a:xfrm>
            <a:off x="812800" y="5379721"/>
            <a:ext cx="1475105" cy="340360"/>
          </a:xfrm>
          <a:prstGeom prst="roundRect">
            <a:avLst>
              <a:gd name="adj" fmla="val 50000"/>
            </a:avLst>
          </a:prstGeom>
          <a:solidFill>
            <a:srgbClr val="E8E3D8"/>
          </a:solidFill>
          <a:ln/>
        </p:spPr>
        <p:txBody>
          <a:bodyPr wrap="none" lIns="0" tIns="0" rIns="0" bIns="0" rtlCol="0" anchor="ctr">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IDENTITY → </a:t>
            </a:r>
            <a:r>
              <a:rPr lang="en-US" sz="1200" b="1" dirty="0">
                <a:solidFill>
                  <a:srgbClr val="14202E"/>
                </a:solidFill>
                <a:latin typeface="IBM Plex Sans" pitchFamily="34" charset="0"/>
                <a:ea typeface="IBM Plex Sans" pitchFamily="34" charset="-122"/>
                <a:cs typeface="IBM Plex Sans" pitchFamily="34" charset="-120"/>
              </a:rPr>
              <a:t>uuid</a:t>
            </a:r>
            <a:endParaRPr lang="en-US" sz="1200" dirty="0"/>
          </a:p>
        </p:txBody>
      </p:sp>
      <p:sp>
        <p:nvSpPr>
          <p:cNvPr id="5" name="Text 2"/>
          <p:cNvSpPr/>
          <p:nvPr/>
        </p:nvSpPr>
        <p:spPr>
          <a:xfrm>
            <a:off x="2389505" y="5379721"/>
            <a:ext cx="1543050" cy="340360"/>
          </a:xfrm>
          <a:prstGeom prst="roundRect">
            <a:avLst>
              <a:gd name="adj" fmla="val 50000"/>
            </a:avLst>
          </a:prstGeom>
          <a:solidFill>
            <a:srgbClr val="E8E3D8"/>
          </a:solidFill>
          <a:ln/>
        </p:spPr>
        <p:txBody>
          <a:bodyPr wrap="none" lIns="0" tIns="0" rIns="0" bIns="0" rtlCol="0" anchor="ctr">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NVARCHAR → </a:t>
            </a:r>
            <a:r>
              <a:rPr lang="en-US" sz="1200" b="1" dirty="0">
                <a:solidFill>
                  <a:srgbClr val="14202E"/>
                </a:solidFill>
                <a:latin typeface="IBM Plex Sans" pitchFamily="34" charset="0"/>
                <a:ea typeface="IBM Plex Sans" pitchFamily="34" charset="-122"/>
                <a:cs typeface="IBM Plex Sans" pitchFamily="34" charset="-120"/>
              </a:rPr>
              <a:t>text</a:t>
            </a:r>
            <a:endParaRPr lang="en-US" sz="1200" dirty="0"/>
          </a:p>
        </p:txBody>
      </p:sp>
      <p:sp>
        <p:nvSpPr>
          <p:cNvPr id="6" name="Text 3"/>
          <p:cNvSpPr/>
          <p:nvPr/>
        </p:nvSpPr>
        <p:spPr>
          <a:xfrm>
            <a:off x="4034155" y="5379721"/>
            <a:ext cx="2297351" cy="340360"/>
          </a:xfrm>
          <a:prstGeom prst="roundRect">
            <a:avLst>
              <a:gd name="adj" fmla="val 50000"/>
            </a:avLst>
          </a:prstGeom>
          <a:solidFill>
            <a:srgbClr val="E8E3D8"/>
          </a:solidFill>
          <a:ln/>
        </p:spPr>
        <p:txBody>
          <a:bodyPr wrap="none" lIns="0" tIns="0" rIns="0" bIns="0" rtlCol="0" anchor="ctr">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Keyspace = BD + </a:t>
            </a:r>
            <a:r>
              <a:rPr lang="en-US" sz="1200" b="1" dirty="0">
                <a:solidFill>
                  <a:srgbClr val="14202E"/>
                </a:solidFill>
                <a:latin typeface="IBM Plex Sans" pitchFamily="34" charset="0"/>
                <a:ea typeface="IBM Plex Sans" pitchFamily="34" charset="-122"/>
                <a:cs typeface="IBM Plex Sans" pitchFamily="34" charset="-120"/>
              </a:rPr>
              <a:t>nº de copias</a:t>
            </a:r>
            <a:endParaRPr lang="en-US" sz="1200" dirty="0"/>
          </a:p>
        </p:txBody>
      </p:sp>
      <p:sp>
        <p:nvSpPr>
          <p:cNvPr id="7" name="Text 4"/>
          <p:cNvSpPr/>
          <p:nvPr/>
        </p:nvSpPr>
        <p:spPr>
          <a:xfrm>
            <a:off x="812800" y="6238239"/>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07</a:t>
            </a:r>
            <a:endParaRPr lang="en-US" sz="1200" dirty="0"/>
          </a:p>
        </p:txBody>
      </p:sp>
      <p:sp>
        <p:nvSpPr>
          <p:cNvPr id="8" name="Text 5"/>
          <p:cNvSpPr/>
          <p:nvPr/>
        </p:nvSpPr>
        <p:spPr>
          <a:xfrm>
            <a:off x="812800" y="304800"/>
            <a:ext cx="450533" cy="325120"/>
          </a:xfrm>
          <a:custGeom>
            <a:avLst/>
            <a:gdLst/>
            <a:ahLst/>
            <a:cxnLst/>
            <a:rect l="l" t="t" r="r" b="b"/>
            <a:pathLst>
              <a:path w="450533" h="325120">
                <a:moveTo>
                  <a:pt x="162560" y="0"/>
                </a:moveTo>
                <a:lnTo>
                  <a:pt x="287973" y="0"/>
                </a:lnTo>
                <a:arcTo hR="162560" wR="162560" stAng="16200000" swAng="5400000"/>
                <a:lnTo>
                  <a:pt x="450533" y="162560"/>
                </a:lnTo>
                <a:arcTo hR="162560" wR="162560" stAng="0" swAng="5400000"/>
                <a:lnTo>
                  <a:pt x="162560" y="325120"/>
                </a:lnTo>
                <a:arcTo hR="162560" wR="162560" stAng="5400000" swAng="5400000"/>
                <a:lnTo>
                  <a:pt x="0" y="162560"/>
                </a:lnTo>
                <a:arcTo hR="162560" wR="162560" stAng="10800000" swAng="5400000"/>
                <a:close/>
              </a:path>
            </a:pathLst>
          </a:custGeom>
          <a:solidFill>
            <a:srgbClr val="F28C38"/>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05</a:t>
            </a:r>
            <a:endParaRPr lang="en-US" sz="1400" dirty="0"/>
          </a:p>
        </p:txBody>
      </p:sp>
      <p:sp>
        <p:nvSpPr>
          <p:cNvPr id="9" name="Text 6"/>
          <p:cNvSpPr/>
          <p:nvPr/>
        </p:nvSpPr>
        <p:spPr>
          <a:xfrm>
            <a:off x="1377632" y="360682"/>
            <a:ext cx="289274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3"/>
                </a:solidFill>
                <a:latin typeface="IBM Plex Sans" pitchFamily="34" charset="0"/>
                <a:ea typeface="IBM Plex Sans" pitchFamily="34" charset="-122"/>
                <a:cs typeface="IBM Plex Sans" pitchFamily="34" charset="-120"/>
              </a:rPr>
              <a:t>TABLA PERSONAS </a:t>
            </a:r>
            <a:r>
              <a:rPr lang="en-US" sz="1200" b="1" spc="150" kern="0" dirty="0">
                <a:solidFill>
                  <a:srgbClr val="8796A6"/>
                </a:solidFill>
                <a:latin typeface="IBM Plex Sans" pitchFamily="34" charset="0"/>
                <a:ea typeface="IBM Plex Sans" pitchFamily="34" charset="-122"/>
                <a:cs typeface="IBM Plex Sans" pitchFamily="34" charset="-120"/>
              </a:rPr>
              <a:t>· DANIEL</a:t>
            </a:r>
            <a:endParaRPr lang="en-US" sz="1200" dirty="0"/>
          </a:p>
        </p:txBody>
      </p:sp>
      <p:sp>
        <p:nvSpPr>
          <p:cNvPr id="10" name="Shape 7"/>
          <p:cNvSpPr/>
          <p:nvPr/>
        </p:nvSpPr>
        <p:spPr>
          <a:xfrm>
            <a:off x="0" y="0"/>
            <a:ext cx="435610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7112000" y="1905000"/>
            <a:ext cx="4267200" cy="3873500"/>
          </a:xfrm>
          <a:prstGeom prst="rect">
            <a:avLst/>
          </a:prstGeom>
        </p:spPr>
      </p:pic>
      <p:sp>
        <p:nvSpPr>
          <p:cNvPr id="3" name="Text 0"/>
          <p:cNvSpPr/>
          <p:nvPr>
            <p:ph type="title"/>
          </p:nvPr>
        </p:nvSpPr>
        <p:spPr>
          <a:xfrm>
            <a:off x="812800" y="812800"/>
            <a:ext cx="10883392" cy="515223"/>
          </a:xfrm>
          <a:prstGeom prst="rect">
            <a:avLst/>
          </a:prstGeom>
          <a:noFill/>
          <a:ln/>
        </p:spPr>
        <p:txBody>
          <a:bodyPr wrap="square" lIns="0" tIns="0" rIns="0" bIns="0" rtlCol="0" anchor="t">
            <a:normAutofit/>
          </a:bodyPr>
          <a:lstStyle/>
          <a:p>
            <a:pPr algn="l" indent="0" marL="0">
              <a:lnSpc>
                <a:spcPts val="3873"/>
              </a:lnSpc>
              <a:buNone/>
            </a:pPr>
            <a:r>
              <a:rPr lang="en-US" sz="3521" b="1" i="0" dirty="0">
                <a:solidFill>
                  <a:srgbClr val="14202E"/>
                </a:solidFill>
                <a:latin typeface="Space Grotesk" pitchFamily="34" charset="0"/>
                <a:ea typeface="Space Grotesk" pitchFamily="34" charset="-122"/>
                <a:cs typeface="Space Grotesk" pitchFamily="34" charset="-120"/>
              </a:rPr>
              <a:t>Primero la pregunta, luego la tabla</a:t>
            </a:r>
            <a:endParaRPr lang="en-US" sz="3521" dirty="0"/>
          </a:p>
        </p:txBody>
      </p:sp>
      <p:sp>
        <p:nvSpPr>
          <p:cNvPr id="4" name="Text 1"/>
          <p:cNvSpPr/>
          <p:nvPr/>
        </p:nvSpPr>
        <p:spPr>
          <a:xfrm>
            <a:off x="812800" y="1378824"/>
            <a:ext cx="10883392" cy="302498"/>
          </a:xfrm>
          <a:prstGeom prst="rect">
            <a:avLst/>
          </a:prstGeom>
          <a:noFill/>
          <a:ln/>
        </p:spPr>
        <p:txBody>
          <a:bodyPr wrap="square" lIns="0" tIns="0" rIns="0" bIns="0" rtlCol="0" anchor="t">
            <a:normAutofit/>
          </a:bodyPr>
          <a:lstStyle/>
          <a:p>
            <a:pPr algn="l" indent="0" marL="0">
              <a:lnSpc>
                <a:spcPts val="2219"/>
              </a:lnSpc>
              <a:buNone/>
            </a:pPr>
            <a:r>
              <a:rPr lang="en-US" sz="1585" dirty="0">
                <a:solidFill>
                  <a:srgbClr val="4A5563"/>
                </a:solidFill>
                <a:latin typeface="IBM Plex Sans" pitchFamily="34" charset="0"/>
                <a:ea typeface="IBM Plex Sans" pitchFamily="34" charset="-122"/>
                <a:cs typeface="IBM Plex Sans" pitchFamily="34" charset="-120"/>
              </a:rPr>
              <a:t>En Cassandra se crea una tabla por cada consulta importante.</a:t>
            </a:r>
            <a:endParaRPr lang="en-US" sz="1585" dirty="0"/>
          </a:p>
        </p:txBody>
      </p:sp>
      <p:sp>
        <p:nvSpPr>
          <p:cNvPr id="5" name="Text 2"/>
          <p:cNvSpPr/>
          <p:nvPr/>
        </p:nvSpPr>
        <p:spPr>
          <a:xfrm>
            <a:off x="812800" y="1909921"/>
            <a:ext cx="6096000" cy="2799239"/>
          </a:xfrm>
          <a:prstGeom prst="roundRect">
            <a:avLst>
              <a:gd name="adj" fmla="val 3630"/>
            </a:avLst>
          </a:prstGeom>
          <a:solidFill>
            <a:srgbClr val="14202E"/>
          </a:solidFill>
          <a:ln/>
        </p:spPr>
        <p:txBody>
          <a:bodyPr wrap="square" lIns="224242" tIns="224242" rIns="56602" bIns="198842" rtlCol="0" anchor="t">
            <a:normAutofit/>
          </a:bodyPr>
          <a:lstStyle/>
          <a:p>
            <a:pPr algn="l" indent="0" marL="0">
              <a:lnSpc>
                <a:spcPts val="1643"/>
              </a:lnSpc>
              <a:buNone/>
            </a:pPr>
            <a:r>
              <a:rPr lang="en-US" sz="1174" dirty="0">
                <a:solidFill>
                  <a:srgbClr val="8796A6"/>
                </a:solidFill>
                <a:latin typeface="JetBrains Mono" pitchFamily="49" charset="0"/>
                <a:ea typeface="JetBrains Mono" pitchFamily="49" charset="-122"/>
                <a:cs typeface="JetBrains Mono" pitchFamily="49" charset="-120"/>
              </a:rPr>
              <a:t>-- Pregunta: ¿quién vive en Madrid?</a:t>
            </a: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CREATE TABLE clase.personas_por_ciudad (</a:t>
            </a: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  ciudad text,</a:t>
            </a: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  apellidos text,</a:t>
            </a: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  id uuid,</a:t>
            </a: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  nombre text,</a:t>
            </a: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  PRIMARY KEY (</a:t>
            </a:r>
            <a:r>
              <a:rPr lang="en-US" sz="1174" dirty="0">
                <a:solidFill>
                  <a:srgbClr val="3FC1C9"/>
                </a:solidFill>
                <a:latin typeface="JetBrains Mono" pitchFamily="49" charset="0"/>
                <a:ea typeface="JetBrains Mono" pitchFamily="49" charset="-122"/>
                <a:cs typeface="JetBrains Mono" pitchFamily="49" charset="-120"/>
              </a:rPr>
              <a:t>(ciudad)</a:t>
            </a:r>
            <a:r>
              <a:rPr lang="en-US" sz="1174" dirty="0">
                <a:solidFill>
                  <a:srgbClr val="F4F1EA"/>
                </a:solidFill>
                <a:latin typeface="JetBrains Mono" pitchFamily="49" charset="0"/>
                <a:ea typeface="JetBrains Mono" pitchFamily="49" charset="-122"/>
                <a:cs typeface="JetBrains Mono" pitchFamily="49" charset="-120"/>
              </a:rPr>
              <a:t>, </a:t>
            </a:r>
            <a:r>
              <a:rPr lang="en-US" sz="1174" dirty="0">
                <a:solidFill>
                  <a:srgbClr val="F28C38"/>
                </a:solidFill>
                <a:latin typeface="JetBrains Mono" pitchFamily="49" charset="0"/>
                <a:ea typeface="JetBrains Mono" pitchFamily="49" charset="-122"/>
                <a:cs typeface="JetBrains Mono" pitchFamily="49" charset="-120"/>
              </a:rPr>
              <a:t>apellidos, id</a:t>
            </a:r>
            <a:r>
              <a:rPr lang="en-US" sz="1174" dirty="0">
                <a:solidFill>
                  <a:srgbClr val="F4F1EA"/>
                </a:solidFill>
                <a:latin typeface="JetBrains Mono" pitchFamily="49" charset="0"/>
                <a:ea typeface="JetBrains Mono" pitchFamily="49" charset="-122"/>
                <a:cs typeface="JetBrains Mono" pitchFamily="49" charset="-120"/>
              </a:rPr>
              <a:t>)</a:t>
            </a: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a:t>
            </a:r>
            <a:endParaRPr lang="en-US" sz="1174" dirty="0"/>
          </a:p>
          <a:p>
            <a:pPr algn="l" indent="0" marL="0">
              <a:lnSpc>
                <a:spcPts val="1643"/>
              </a:lnSpc>
              <a:buNone/>
            </a:pP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SELECT * FROM clase.personas_por_ciudad</a:t>
            </a:r>
            <a:endParaRPr lang="en-US" sz="1174" dirty="0"/>
          </a:p>
          <a:p>
            <a:pPr algn="l" indent="0" marL="0">
              <a:lnSpc>
                <a:spcPts val="1643"/>
              </a:lnSpc>
              <a:buNone/>
            </a:pPr>
            <a:r>
              <a:rPr lang="en-US" sz="1174" dirty="0">
                <a:solidFill>
                  <a:srgbClr val="F4F1EA"/>
                </a:solidFill>
                <a:latin typeface="JetBrains Mono" pitchFamily="49" charset="0"/>
                <a:ea typeface="JetBrains Mono" pitchFamily="49" charset="-122"/>
                <a:cs typeface="JetBrains Mono" pitchFamily="49" charset="-120"/>
              </a:rPr>
              <a:t>WHERE ciudad = 'Madrid';</a:t>
            </a:r>
            <a:endParaRPr lang="en-US" sz="1174" dirty="0"/>
          </a:p>
        </p:txBody>
      </p:sp>
      <p:sp>
        <p:nvSpPr>
          <p:cNvPr id="6" name="Text 3"/>
          <p:cNvSpPr/>
          <p:nvPr/>
        </p:nvSpPr>
        <p:spPr>
          <a:xfrm>
            <a:off x="812800" y="4963164"/>
            <a:ext cx="6278880" cy="441960"/>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1B7F86"/>
                </a:solidFill>
                <a:latin typeface="IBM Plex Sans" pitchFamily="34" charset="0"/>
                <a:ea typeface="IBM Plex Sans" pitchFamily="34" charset="-122"/>
                <a:cs typeface="IBM Plex Sans" pitchFamily="34" charset="-120"/>
              </a:rPr>
              <a:t>(ciudad)</a:t>
            </a:r>
            <a:r>
              <a:rPr lang="en-US" sz="1185" dirty="0">
                <a:solidFill>
                  <a:srgbClr val="4A5563"/>
                </a:solidFill>
                <a:latin typeface="IBM Plex Sans" pitchFamily="34" charset="0"/>
                <a:ea typeface="IBM Plex Sans" pitchFamily="34" charset="-122"/>
                <a:cs typeface="IBM Plex Sans" pitchFamily="34" charset="-120"/>
              </a:rPr>
              <a:t> = clave de partición, elige el nodo · </a:t>
            </a:r>
            <a:r>
              <a:rPr lang="en-US" sz="1185" b="1" dirty="0">
                <a:solidFill>
                  <a:srgbClr val="B5541A"/>
                </a:solidFill>
                <a:latin typeface="IBM Plex Sans" pitchFamily="34" charset="0"/>
                <a:ea typeface="IBM Plex Sans" pitchFamily="34" charset="-122"/>
                <a:cs typeface="IBM Plex Sans" pitchFamily="34" charset="-120"/>
              </a:rPr>
              <a:t>apellidos, id</a:t>
            </a:r>
            <a:r>
              <a:rPr lang="en-US" sz="1185" dirty="0">
                <a:solidFill>
                  <a:srgbClr val="4A5563"/>
                </a:solidFill>
                <a:latin typeface="IBM Plex Sans" pitchFamily="34" charset="0"/>
                <a:ea typeface="IBM Plex Sans" pitchFamily="34" charset="-122"/>
                <a:cs typeface="IBM Plex Sans" pitchFamily="34" charset="-120"/>
              </a:rPr>
              <a:t> = clave de agrupación, ordena dentro</a:t>
            </a:r>
            <a:endParaRPr lang="en-US" sz="1185" dirty="0"/>
          </a:p>
        </p:txBody>
      </p:sp>
      <p:sp>
        <p:nvSpPr>
          <p:cNvPr id="7" name="Text 4"/>
          <p:cNvSpPr/>
          <p:nvPr/>
        </p:nvSpPr>
        <p:spPr>
          <a:xfrm>
            <a:off x="812800" y="5633721"/>
            <a:ext cx="6278880" cy="233680"/>
          </a:xfrm>
          <a:prstGeom prst="rect">
            <a:avLst/>
          </a:prstGeom>
          <a:noFill/>
          <a:ln/>
        </p:spPr>
        <p:txBody>
          <a:bodyPr wrap="square" lIns="0" tIns="0" rIns="0" bIns="0" rtlCol="0" anchor="t">
            <a:normAutofit/>
          </a:bodyPr>
          <a:lstStyle/>
          <a:p>
            <a:pPr algn="l" indent="0" marL="0">
              <a:lnSpc>
                <a:spcPts val="1675"/>
              </a:lnSpc>
              <a:buNone/>
            </a:pPr>
            <a:r>
              <a:rPr lang="en-US" sz="1196" b="1" u="sng" dirty="0">
                <a:solidFill>
                  <a:srgbClr val="1B7F8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 Pruébalo en el laboratorio 3D: botón “SELECT … WHERE email”</a:t>
            </a:r>
            <a:endParaRPr lang="en-US" sz="1196" dirty="0"/>
          </a:p>
        </p:txBody>
      </p:sp>
      <p:sp>
        <p:nvSpPr>
          <p:cNvPr id="8" name="Text 5"/>
          <p:cNvSpPr/>
          <p:nvPr/>
        </p:nvSpPr>
        <p:spPr>
          <a:xfrm>
            <a:off x="812800" y="6238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08</a:t>
            </a:r>
            <a:endParaRPr lang="en-US" sz="1200" dirty="0"/>
          </a:p>
        </p:txBody>
      </p:sp>
      <p:sp>
        <p:nvSpPr>
          <p:cNvPr id="9" name="Text 6"/>
          <p:cNvSpPr/>
          <p:nvPr/>
        </p:nvSpPr>
        <p:spPr>
          <a:xfrm>
            <a:off x="812800" y="304800"/>
            <a:ext cx="453708" cy="325120"/>
          </a:xfrm>
          <a:custGeom>
            <a:avLst/>
            <a:gdLst/>
            <a:ahLst/>
            <a:cxnLst/>
            <a:rect l="l" t="t" r="r" b="b"/>
            <a:pathLst>
              <a:path w="453708" h="325120">
                <a:moveTo>
                  <a:pt x="162560" y="0"/>
                </a:moveTo>
                <a:lnTo>
                  <a:pt x="291148" y="0"/>
                </a:lnTo>
                <a:arcTo hR="162560" wR="162560" stAng="16200000" swAng="5400000"/>
                <a:lnTo>
                  <a:pt x="453708" y="162560"/>
                </a:lnTo>
                <a:arcTo hR="162560" wR="162560" stAng="0" swAng="5400000"/>
                <a:lnTo>
                  <a:pt x="162560" y="325120"/>
                </a:lnTo>
                <a:arcTo hR="162560" wR="162560" stAng="5400000" swAng="5400000"/>
                <a:lnTo>
                  <a:pt x="0" y="162560"/>
                </a:lnTo>
                <a:arcTo hR="162560" wR="162560" stAng="10800000" swAng="5400000"/>
                <a:close/>
              </a:path>
            </a:pathLst>
          </a:custGeom>
          <a:solidFill>
            <a:srgbClr val="F28C38"/>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06</a:t>
            </a:r>
            <a:endParaRPr lang="en-US" sz="1400" dirty="0"/>
          </a:p>
        </p:txBody>
      </p:sp>
      <p:sp>
        <p:nvSpPr>
          <p:cNvPr id="10" name="Text 7"/>
          <p:cNvSpPr/>
          <p:nvPr/>
        </p:nvSpPr>
        <p:spPr>
          <a:xfrm>
            <a:off x="1380807" y="360682"/>
            <a:ext cx="350291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3"/>
                </a:solidFill>
                <a:latin typeface="IBM Plex Sans" pitchFamily="34" charset="0"/>
                <a:ea typeface="IBM Plex Sans" pitchFamily="34" charset="-122"/>
                <a:cs typeface="IBM Plex Sans" pitchFamily="34" charset="-120"/>
              </a:rPr>
              <a:t>DISEÑO POR CONSULTA </a:t>
            </a:r>
            <a:r>
              <a:rPr lang="en-US" sz="1200" b="1" spc="150" kern="0" dirty="0">
                <a:solidFill>
                  <a:srgbClr val="8796A6"/>
                </a:solidFill>
                <a:latin typeface="IBM Plex Sans" pitchFamily="34" charset="0"/>
                <a:ea typeface="IBM Plex Sans" pitchFamily="34" charset="-122"/>
                <a:cs typeface="IBM Plex Sans" pitchFamily="34" charset="-120"/>
              </a:rPr>
              <a:t>· DANIEL</a:t>
            </a:r>
            <a:endParaRPr lang="en-US" sz="1200" dirty="0"/>
          </a:p>
        </p:txBody>
      </p:sp>
      <p:sp>
        <p:nvSpPr>
          <p:cNvPr id="11" name="Shape 8"/>
          <p:cNvSpPr/>
          <p:nvPr/>
        </p:nvSpPr>
        <p:spPr>
          <a:xfrm>
            <a:off x="0" y="0"/>
            <a:ext cx="522605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E"/>
                </a:solidFill>
                <a:latin typeface="Space Grotesk" pitchFamily="34" charset="0"/>
                <a:ea typeface="Space Grotesk" pitchFamily="34" charset="-122"/>
                <a:cs typeface="Space Grotesk" pitchFamily="34" charset="-120"/>
              </a:rPr>
              <a:t>Conectar desde C#</a:t>
            </a:r>
            <a:endParaRPr lang="en-US" sz="3600" dirty="0"/>
          </a:p>
        </p:txBody>
      </p:sp>
      <p:sp>
        <p:nvSpPr>
          <p:cNvPr id="3" name="Text 1"/>
          <p:cNvSpPr/>
          <p:nvPr/>
        </p:nvSpPr>
        <p:spPr>
          <a:xfrm>
            <a:off x="812800" y="13919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Driver de DataStax para .NET, en NuGet: </a:t>
            </a:r>
            <a:r>
              <a:rPr lang="en-US" sz="1600" b="1" dirty="0">
                <a:solidFill>
                  <a:srgbClr val="4A5563"/>
                </a:solidFill>
                <a:latin typeface="IBM Plex Sans" pitchFamily="34" charset="0"/>
                <a:ea typeface="IBM Plex Sans" pitchFamily="34" charset="-122"/>
                <a:cs typeface="IBM Plex Sans" pitchFamily="34" charset="-120"/>
              </a:rPr>
              <a:t>CassandraCSharpDriver</a:t>
            </a:r>
            <a:endParaRPr lang="en-US" sz="1600" dirty="0"/>
          </a:p>
        </p:txBody>
      </p:sp>
      <p:sp>
        <p:nvSpPr>
          <p:cNvPr id="4" name="Shape 2"/>
          <p:cNvSpPr/>
          <p:nvPr/>
        </p:nvSpPr>
        <p:spPr>
          <a:xfrm>
            <a:off x="812800" y="1930400"/>
            <a:ext cx="3937000" cy="2590800"/>
          </a:xfrm>
          <a:prstGeom prst="roundRect">
            <a:avLst>
              <a:gd name="adj" fmla="val 3922"/>
            </a:avLst>
          </a:prstGeom>
          <a:solidFill>
            <a:srgbClr val="E8E3D8"/>
          </a:solidFill>
          <a:ln/>
        </p:spPr>
      </p:sp>
      <p:sp>
        <p:nvSpPr>
          <p:cNvPr id="5" name="Text 3"/>
          <p:cNvSpPr/>
          <p:nvPr/>
        </p:nvSpPr>
        <p:spPr>
          <a:xfrm>
            <a:off x="1066800" y="2184400"/>
            <a:ext cx="35318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IBM Plex Sans" pitchFamily="34" charset="0"/>
                <a:ea typeface="IBM Plex Sans" pitchFamily="34" charset="-122"/>
                <a:cs typeface="IBM Plex Sans" pitchFamily="34" charset="-120"/>
              </a:rPr>
              <a:t>TEMA 3 · SQL SERVER</a:t>
            </a:r>
            <a:endParaRPr lang="en-US" sz="1200" dirty="0"/>
          </a:p>
        </p:txBody>
      </p:sp>
      <p:sp>
        <p:nvSpPr>
          <p:cNvPr id="6" name="Text 4"/>
          <p:cNvSpPr/>
          <p:nvPr/>
        </p:nvSpPr>
        <p:spPr>
          <a:xfrm>
            <a:off x="1066800" y="2524764"/>
            <a:ext cx="353187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using Microsoft.Data.SqlClient;</a:t>
            </a:r>
            <a:endParaRPr lang="en-US" sz="1200" dirty="0"/>
          </a:p>
          <a:p>
            <a:pPr algn="l" indent="0" marL="0">
              <a:lnSpc>
                <a:spcPts val="1680"/>
              </a:lnSpc>
              <a:buNone/>
            </a:pPr>
            <a:endParaRPr lang="en-US" sz="1200" dirty="0"/>
          </a:p>
          <a:p>
            <a:pPr algn="l" indent="0" marL="0">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var con = new SqlConnection(</a:t>
            </a:r>
            <a:endParaRPr lang="en-US" sz="1200" dirty="0"/>
          </a:p>
          <a:p>
            <a:pPr algn="l" indent="0" marL="0">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  cadena);</a:t>
            </a:r>
            <a:endParaRPr lang="en-US" sz="1200" dirty="0"/>
          </a:p>
          <a:p>
            <a:pPr algn="l" indent="0" marL="0">
              <a:lnSpc>
                <a:spcPts val="1680"/>
              </a:lnSpc>
              <a:buNone/>
            </a:pPr>
            <a:r>
              <a:rPr lang="en-US" sz="1200" dirty="0">
                <a:solidFill>
                  <a:srgbClr val="14202E"/>
                </a:solidFill>
                <a:latin typeface="JetBrains Mono" pitchFamily="49" charset="0"/>
                <a:ea typeface="JetBrains Mono" pitchFamily="49" charset="-122"/>
                <a:cs typeface="JetBrains Mono" pitchFamily="49" charset="-120"/>
              </a:rPr>
              <a:t>con.Open();</a:t>
            </a:r>
            <a:endParaRPr lang="en-US" sz="1200" dirty="0"/>
          </a:p>
        </p:txBody>
      </p:sp>
      <p:sp>
        <p:nvSpPr>
          <p:cNvPr id="7" name="Shape 5"/>
          <p:cNvSpPr/>
          <p:nvPr/>
        </p:nvSpPr>
        <p:spPr>
          <a:xfrm>
            <a:off x="4953000" y="1930400"/>
            <a:ext cx="6426200" cy="2590800"/>
          </a:xfrm>
          <a:prstGeom prst="roundRect">
            <a:avLst>
              <a:gd name="adj" fmla="val 3922"/>
            </a:avLst>
          </a:prstGeom>
          <a:solidFill>
            <a:srgbClr val="14202E"/>
          </a:solidFill>
          <a:ln/>
        </p:spPr>
      </p:sp>
      <p:sp>
        <p:nvSpPr>
          <p:cNvPr id="8" name="Shape 6"/>
          <p:cNvSpPr/>
          <p:nvPr/>
        </p:nvSpPr>
        <p:spPr>
          <a:xfrm>
            <a:off x="4953000" y="1930400"/>
            <a:ext cx="6426200" cy="2590800"/>
          </a:xfrm>
          <a:custGeom>
            <a:avLst/>
            <a:gdLst/>
            <a:ahLst/>
            <a:cxnLst/>
            <a:rect l="l" t="t" r="r" b="b"/>
            <a:pathLst>
              <a:path w="6426200" h="2590800">
                <a:moveTo>
                  <a:pt x="0" y="101600"/>
                </a:moveTo>
                <a:lnTo>
                  <a:pt x="0" y="101600"/>
                </a:lnTo>
                <a:arcTo hR="101600" wR="101600" stAng="10800000" swAng="5400000"/>
                <a:lnTo>
                  <a:pt x="6324600" y="0"/>
                </a:lnTo>
                <a:arcTo hR="101600" wR="101600" stAng="16200000" swAng="5400000"/>
                <a:lnTo>
                  <a:pt x="6426200" y="101600"/>
                </a:lnTo>
                <a:arcTo hR="63500" wR="101600" stAng="0" swAng="-5400000"/>
                <a:lnTo>
                  <a:pt x="101600" y="38100"/>
                </a:lnTo>
                <a:arcTo hR="63500" wR="101600" stAng="16200000" swAng="-5400000"/>
                <a:close/>
              </a:path>
            </a:pathLst>
          </a:custGeom>
          <a:solidFill>
            <a:srgbClr val="3FC1C9"/>
          </a:solidFill>
          <a:ln/>
        </p:spPr>
      </p:sp>
      <p:sp>
        <p:nvSpPr>
          <p:cNvPr id="9" name="Text 7"/>
          <p:cNvSpPr/>
          <p:nvPr/>
        </p:nvSpPr>
        <p:spPr>
          <a:xfrm>
            <a:off x="5207000" y="2219964"/>
            <a:ext cx="609574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C1C9"/>
                </a:solidFill>
                <a:latin typeface="IBM Plex Sans" pitchFamily="34" charset="0"/>
                <a:ea typeface="IBM Plex Sans" pitchFamily="34" charset="-122"/>
                <a:cs typeface="IBM Plex Sans" pitchFamily="34" charset="-120"/>
              </a:rPr>
              <a:t>CASSANDRA</a:t>
            </a:r>
            <a:endParaRPr lang="en-US" sz="1200" dirty="0"/>
          </a:p>
        </p:txBody>
      </p:sp>
      <p:sp>
        <p:nvSpPr>
          <p:cNvPr id="10" name="Text 8"/>
          <p:cNvSpPr/>
          <p:nvPr/>
        </p:nvSpPr>
        <p:spPr>
          <a:xfrm>
            <a:off x="5207000" y="2560321"/>
            <a:ext cx="6095746" cy="17322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JetBrains Mono" pitchFamily="49" charset="0"/>
                <a:ea typeface="JetBrains Mono" pitchFamily="49" charset="-122"/>
                <a:cs typeface="JetBrains Mono" pitchFamily="49" charset="-120"/>
              </a:rPr>
              <a:t>// dotnet add package CassandraCSharpDriver</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using Cassandra;</a:t>
            </a:r>
            <a:endParaRPr lang="en-US" sz="1200" dirty="0"/>
          </a:p>
          <a:p>
            <a:pPr algn="l" indent="0" marL="0">
              <a:lnSpc>
                <a:spcPts val="1680"/>
              </a:lnSpc>
              <a:buNone/>
            </a:pP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var cluster = Cluster.Builder()</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    .AddContactPoint("127.0.0.1")</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    .Build();</a:t>
            </a:r>
            <a:endParaRPr lang="en-US" sz="1200" dirty="0"/>
          </a:p>
          <a:p>
            <a:pPr algn="l" indent="0" marL="0">
              <a:lnSpc>
                <a:spcPts val="1680"/>
              </a:lnSpc>
              <a:buNone/>
            </a:pP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ISession session = cluster.Connect("clase");</a:t>
            </a:r>
            <a:endParaRPr lang="en-US" sz="1200" dirty="0"/>
          </a:p>
        </p:txBody>
      </p:sp>
      <p:sp>
        <p:nvSpPr>
          <p:cNvPr id="11" name="Text 9"/>
          <p:cNvSpPr/>
          <p:nvPr/>
        </p:nvSpPr>
        <p:spPr>
          <a:xfrm>
            <a:off x="815975" y="4778375"/>
            <a:ext cx="1577975" cy="344170"/>
          </a:xfrm>
          <a:prstGeom prst="roundRect">
            <a:avLst>
              <a:gd name="adj" fmla="val 50000"/>
            </a:avLst>
          </a:prstGeom>
          <a:solidFill>
            <a:srgbClr val="FFFFFF"/>
          </a:solidFill>
          <a:ln w="6350">
            <a:solidFill>
              <a:srgbClr val="D5CFC2"/>
            </a:solidFill>
            <a:prstDash val="solid"/>
          </a:ln>
        </p:spPr>
        <p:txBody>
          <a:bodyPr wrap="none" lIns="0" tIns="0" rIns="0" bIns="0" rtlCol="0" anchor="ctr">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Pool de conexiones</a:t>
            </a:r>
            <a:endParaRPr lang="en-US" sz="1200" dirty="0"/>
          </a:p>
        </p:txBody>
      </p:sp>
      <p:sp>
        <p:nvSpPr>
          <p:cNvPr id="12" name="Text 10"/>
          <p:cNvSpPr/>
          <p:nvPr/>
        </p:nvSpPr>
        <p:spPr>
          <a:xfrm>
            <a:off x="2501900" y="4778375"/>
            <a:ext cx="2420223" cy="344170"/>
          </a:xfrm>
          <a:prstGeom prst="roundRect">
            <a:avLst>
              <a:gd name="adj" fmla="val 50000"/>
            </a:avLst>
          </a:prstGeom>
          <a:solidFill>
            <a:srgbClr val="FFFFFF"/>
          </a:solidFill>
          <a:ln w="6350">
            <a:solidFill>
              <a:srgbClr val="D5CFC2"/>
            </a:solidFill>
            <a:prstDash val="solid"/>
          </a:ln>
        </p:spPr>
        <p:txBody>
          <a:bodyPr wrap="none" lIns="0" tIns="0" rIns="0" bIns="0" rtlCol="0" anchor="ctr">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Descubre los demás nodos solo</a:t>
            </a:r>
            <a:endParaRPr lang="en-US" sz="1200" dirty="0"/>
          </a:p>
        </p:txBody>
      </p:sp>
      <p:sp>
        <p:nvSpPr>
          <p:cNvPr id="13" name="Text 11"/>
          <p:cNvSpPr/>
          <p:nvPr/>
        </p:nvSpPr>
        <p:spPr>
          <a:xfrm>
            <a:off x="5030073" y="4778375"/>
            <a:ext cx="2258854" cy="344170"/>
          </a:xfrm>
          <a:prstGeom prst="roundRect">
            <a:avLst>
              <a:gd name="adj" fmla="val 50000"/>
            </a:avLst>
          </a:prstGeom>
          <a:solidFill>
            <a:srgbClr val="FFFFFF"/>
          </a:solidFill>
          <a:ln w="6350">
            <a:solidFill>
              <a:srgbClr val="D5CFC2"/>
            </a:solidFill>
            <a:prstDash val="solid"/>
          </a:ln>
        </p:spPr>
        <p:txBody>
          <a:bodyPr wrap="none" lIns="0" tIns="0" rIns="0" bIns="0" rtlCol="0" anchor="ctr">
            <a:normAutofit/>
          </a:bodyPr>
          <a:lstStyle/>
          <a:p>
            <a:pPr algn="ctr"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Si un nodo cae, cambia a otro</a:t>
            </a:r>
            <a:endParaRPr lang="en-US" sz="1200" dirty="0"/>
          </a:p>
        </p:txBody>
      </p:sp>
      <p:sp>
        <p:nvSpPr>
          <p:cNvPr id="14" name="Text 12"/>
          <p:cNvSpPr/>
          <p:nvPr/>
        </p:nvSpPr>
        <p:spPr>
          <a:xfrm>
            <a:off x="812800" y="6238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09</a:t>
            </a:r>
            <a:endParaRPr lang="en-US" sz="1200" dirty="0"/>
          </a:p>
        </p:txBody>
      </p:sp>
      <p:sp>
        <p:nvSpPr>
          <p:cNvPr id="15" name="Text 13"/>
          <p:cNvSpPr/>
          <p:nvPr/>
        </p:nvSpPr>
        <p:spPr>
          <a:xfrm>
            <a:off x="812800" y="304800"/>
            <a:ext cx="438785" cy="325120"/>
          </a:xfrm>
          <a:custGeom>
            <a:avLst/>
            <a:gdLst/>
            <a:ahLst/>
            <a:cxnLst/>
            <a:rect l="l" t="t" r="r" b="b"/>
            <a:pathLst>
              <a:path w="438785" h="325120">
                <a:moveTo>
                  <a:pt x="162560" y="0"/>
                </a:moveTo>
                <a:lnTo>
                  <a:pt x="276225" y="0"/>
                </a:lnTo>
                <a:arcTo hR="162560" wR="162560" stAng="16200000" swAng="5400000"/>
                <a:lnTo>
                  <a:pt x="438785" y="162560"/>
                </a:lnTo>
                <a:arcTo hR="162560" wR="162560" stAng="0" swAng="5400000"/>
                <a:lnTo>
                  <a:pt x="162560" y="325120"/>
                </a:lnTo>
                <a:arcTo hR="162560" wR="162560" stAng="5400000" swAng="5400000"/>
                <a:lnTo>
                  <a:pt x="0" y="162560"/>
                </a:lnTo>
                <a:arcTo hR="162560" wR="162560" stAng="10800000" swAng="5400000"/>
                <a:close/>
              </a:path>
            </a:pathLst>
          </a:custGeom>
          <a:solidFill>
            <a:srgbClr val="F28C38"/>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07</a:t>
            </a:r>
            <a:endParaRPr lang="en-US" sz="1400" dirty="0"/>
          </a:p>
        </p:txBody>
      </p:sp>
      <p:sp>
        <p:nvSpPr>
          <p:cNvPr id="16" name="Text 14"/>
          <p:cNvSpPr/>
          <p:nvPr/>
        </p:nvSpPr>
        <p:spPr>
          <a:xfrm>
            <a:off x="1365885" y="360679"/>
            <a:ext cx="270090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3"/>
                </a:solidFill>
                <a:latin typeface="IBM Plex Sans" pitchFamily="34" charset="0"/>
                <a:ea typeface="IBM Plex Sans" pitchFamily="34" charset="-122"/>
                <a:cs typeface="IBM Plex Sans" pitchFamily="34" charset="-120"/>
              </a:rPr>
              <a:t>CONEXIÓN .NET </a:t>
            </a:r>
            <a:r>
              <a:rPr lang="en-US" sz="1200" b="1" spc="150" kern="0" dirty="0">
                <a:solidFill>
                  <a:srgbClr val="8796A6"/>
                </a:solidFill>
                <a:latin typeface="IBM Plex Sans" pitchFamily="34" charset="0"/>
                <a:ea typeface="IBM Plex Sans" pitchFamily="34" charset="-122"/>
                <a:cs typeface="IBM Plex Sans" pitchFamily="34" charset="-120"/>
              </a:rPr>
              <a:t>· DANIEL</a:t>
            </a:r>
            <a:endParaRPr lang="en-US" sz="1200" dirty="0"/>
          </a:p>
        </p:txBody>
      </p:sp>
      <p:sp>
        <p:nvSpPr>
          <p:cNvPr id="17" name="Shape 15"/>
          <p:cNvSpPr/>
          <p:nvPr/>
        </p:nvSpPr>
        <p:spPr>
          <a:xfrm>
            <a:off x="0" y="0"/>
            <a:ext cx="609600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E"/>
                </a:solidFill>
                <a:latin typeface="Space Grotesk" pitchFamily="34" charset="0"/>
                <a:ea typeface="Space Grotesk" pitchFamily="34" charset="-122"/>
                <a:cs typeface="Space Grotesk" pitchFamily="34" charset="-120"/>
              </a:rPr>
              <a:t>CRUD de Personas en C#</a:t>
            </a:r>
            <a:endParaRPr lang="en-US" sz="3600" dirty="0"/>
          </a:p>
        </p:txBody>
      </p:sp>
      <p:sp>
        <p:nvSpPr>
          <p:cNvPr id="3" name="Shape 1"/>
          <p:cNvSpPr/>
          <p:nvPr/>
        </p:nvSpPr>
        <p:spPr>
          <a:xfrm>
            <a:off x="812800" y="1518921"/>
            <a:ext cx="5207000" cy="1498600"/>
          </a:xfrm>
          <a:prstGeom prst="roundRect">
            <a:avLst>
              <a:gd name="adj" fmla="val 6780"/>
            </a:avLst>
          </a:prstGeom>
          <a:solidFill>
            <a:srgbClr val="14202E"/>
          </a:solidFill>
          <a:ln/>
        </p:spPr>
      </p:sp>
      <p:sp>
        <p:nvSpPr>
          <p:cNvPr id="4" name="Text 2"/>
          <p:cNvSpPr/>
          <p:nvPr/>
        </p:nvSpPr>
        <p:spPr>
          <a:xfrm>
            <a:off x="965200" y="1696721"/>
            <a:ext cx="504926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C1C9"/>
                </a:solidFill>
                <a:latin typeface="IBM Plex Sans" pitchFamily="34" charset="0"/>
                <a:ea typeface="IBM Plex Sans" pitchFamily="34" charset="-122"/>
                <a:cs typeface="IBM Plex Sans" pitchFamily="34" charset="-120"/>
              </a:rPr>
              <a:t>CREATE · insertar</a:t>
            </a:r>
            <a:endParaRPr lang="en-US" sz="1200" dirty="0"/>
          </a:p>
        </p:txBody>
      </p:sp>
      <p:sp>
        <p:nvSpPr>
          <p:cNvPr id="5" name="Text 3"/>
          <p:cNvSpPr/>
          <p:nvPr/>
        </p:nvSpPr>
        <p:spPr>
          <a:xfrm>
            <a:off x="965200" y="1986279"/>
            <a:ext cx="504926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var ins = session.Prepare("INSERT INTO " +</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  "personas (id, nombre, ciudad) VALUES (?,?,?)");</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var id = Guid.NewGuid();</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session.Execute(ins.Bind(id, "Ana", "Madrid"));</a:t>
            </a:r>
            <a:endParaRPr lang="en-US" sz="1200" dirty="0"/>
          </a:p>
        </p:txBody>
      </p:sp>
      <p:sp>
        <p:nvSpPr>
          <p:cNvPr id="6" name="Shape 4"/>
          <p:cNvSpPr/>
          <p:nvPr/>
        </p:nvSpPr>
        <p:spPr>
          <a:xfrm>
            <a:off x="6172200" y="1518921"/>
            <a:ext cx="5207000" cy="1498600"/>
          </a:xfrm>
          <a:prstGeom prst="roundRect">
            <a:avLst>
              <a:gd name="adj" fmla="val 6780"/>
            </a:avLst>
          </a:prstGeom>
          <a:solidFill>
            <a:srgbClr val="14202E"/>
          </a:solidFill>
          <a:ln/>
        </p:spPr>
      </p:sp>
      <p:sp>
        <p:nvSpPr>
          <p:cNvPr id="7" name="Text 5"/>
          <p:cNvSpPr/>
          <p:nvPr/>
        </p:nvSpPr>
        <p:spPr>
          <a:xfrm>
            <a:off x="6324600" y="1696721"/>
            <a:ext cx="504926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C1C9"/>
                </a:solidFill>
                <a:latin typeface="IBM Plex Sans" pitchFamily="34" charset="0"/>
                <a:ea typeface="IBM Plex Sans" pitchFamily="34" charset="-122"/>
                <a:cs typeface="IBM Plex Sans" pitchFamily="34" charset="-120"/>
              </a:rPr>
              <a:t>READ · leer</a:t>
            </a:r>
            <a:endParaRPr lang="en-US" sz="1200" dirty="0"/>
          </a:p>
        </p:txBody>
      </p:sp>
      <p:sp>
        <p:nvSpPr>
          <p:cNvPr id="8" name="Text 6"/>
          <p:cNvSpPr/>
          <p:nvPr/>
        </p:nvSpPr>
        <p:spPr>
          <a:xfrm>
            <a:off x="6324600" y="1986279"/>
            <a:ext cx="504926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var sel = session.Prepare(</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  "SELECT nombre FROM personas WHERE id = ?");</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var fila = session.Execute(sel.Bind(id)).First();</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Console.WriteLine(fila.GetValue&lt;string&gt;("nombre"));</a:t>
            </a:r>
            <a:endParaRPr lang="en-US" sz="1200" dirty="0"/>
          </a:p>
        </p:txBody>
      </p:sp>
      <p:sp>
        <p:nvSpPr>
          <p:cNvPr id="9" name="Shape 7"/>
          <p:cNvSpPr/>
          <p:nvPr/>
        </p:nvSpPr>
        <p:spPr>
          <a:xfrm>
            <a:off x="812800" y="3169921"/>
            <a:ext cx="5207000" cy="1285240"/>
          </a:xfrm>
          <a:prstGeom prst="roundRect">
            <a:avLst>
              <a:gd name="adj" fmla="val 7905"/>
            </a:avLst>
          </a:prstGeom>
          <a:solidFill>
            <a:srgbClr val="14202E"/>
          </a:solidFill>
          <a:ln/>
        </p:spPr>
      </p:sp>
      <p:sp>
        <p:nvSpPr>
          <p:cNvPr id="10" name="Text 8"/>
          <p:cNvSpPr/>
          <p:nvPr/>
        </p:nvSpPr>
        <p:spPr>
          <a:xfrm>
            <a:off x="965200" y="3347721"/>
            <a:ext cx="504926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8C38"/>
                </a:solidFill>
                <a:latin typeface="IBM Plex Sans" pitchFamily="34" charset="0"/>
                <a:ea typeface="IBM Plex Sans" pitchFamily="34" charset="-122"/>
                <a:cs typeface="IBM Plex Sans" pitchFamily="34" charset="-120"/>
              </a:rPr>
              <a:t>UPDATE · modificar</a:t>
            </a:r>
            <a:endParaRPr lang="en-US" sz="1200" dirty="0"/>
          </a:p>
        </p:txBody>
      </p:sp>
      <p:sp>
        <p:nvSpPr>
          <p:cNvPr id="11" name="Text 9"/>
          <p:cNvSpPr/>
          <p:nvPr/>
        </p:nvSpPr>
        <p:spPr>
          <a:xfrm>
            <a:off x="965200" y="3637279"/>
            <a:ext cx="504926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var upd = session.Prepare(</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  "UPDATE personas SET ciudad = ? WHERE id = ?");</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session.Execute(upd.Bind("Toledo", id));</a:t>
            </a:r>
            <a:endParaRPr lang="en-US" sz="1200" dirty="0"/>
          </a:p>
        </p:txBody>
      </p:sp>
      <p:sp>
        <p:nvSpPr>
          <p:cNvPr id="12" name="Shape 10"/>
          <p:cNvSpPr/>
          <p:nvPr/>
        </p:nvSpPr>
        <p:spPr>
          <a:xfrm>
            <a:off x="6172200" y="3169921"/>
            <a:ext cx="5207000" cy="1285240"/>
          </a:xfrm>
          <a:prstGeom prst="roundRect">
            <a:avLst>
              <a:gd name="adj" fmla="val 7905"/>
            </a:avLst>
          </a:prstGeom>
          <a:solidFill>
            <a:srgbClr val="14202E"/>
          </a:solidFill>
          <a:ln/>
        </p:spPr>
      </p:sp>
      <p:sp>
        <p:nvSpPr>
          <p:cNvPr id="13" name="Text 11"/>
          <p:cNvSpPr/>
          <p:nvPr/>
        </p:nvSpPr>
        <p:spPr>
          <a:xfrm>
            <a:off x="6324600" y="3347721"/>
            <a:ext cx="504926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8C38"/>
                </a:solidFill>
                <a:latin typeface="IBM Plex Sans" pitchFamily="34" charset="0"/>
                <a:ea typeface="IBM Plex Sans" pitchFamily="34" charset="-122"/>
                <a:cs typeface="IBM Plex Sans" pitchFamily="34" charset="-120"/>
              </a:rPr>
              <a:t>DELETE · borrar</a:t>
            </a:r>
            <a:endParaRPr lang="en-US" sz="1200" dirty="0"/>
          </a:p>
        </p:txBody>
      </p:sp>
      <p:sp>
        <p:nvSpPr>
          <p:cNvPr id="14" name="Text 12"/>
          <p:cNvSpPr/>
          <p:nvPr/>
        </p:nvSpPr>
        <p:spPr>
          <a:xfrm>
            <a:off x="6324600" y="3637279"/>
            <a:ext cx="504926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var del = session.Prepare(</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  "DELETE FROM personas WHERE id = ?");</a:t>
            </a:r>
            <a:endParaRPr lang="en-US" sz="1200" dirty="0"/>
          </a:p>
          <a:p>
            <a:pPr algn="l" indent="0" marL="0">
              <a:lnSpc>
                <a:spcPts val="1680"/>
              </a:lnSpc>
              <a:buNone/>
            </a:pPr>
            <a:r>
              <a:rPr lang="en-US" sz="1200" dirty="0">
                <a:solidFill>
                  <a:srgbClr val="F4F1EA"/>
                </a:solidFill>
                <a:latin typeface="JetBrains Mono" pitchFamily="49" charset="0"/>
                <a:ea typeface="JetBrains Mono" pitchFamily="49" charset="-122"/>
                <a:cs typeface="JetBrains Mono" pitchFamily="49" charset="-120"/>
              </a:rPr>
              <a:t>session.Execute(del.Bind(id));</a:t>
            </a:r>
            <a:endParaRPr lang="en-US" sz="1200" dirty="0"/>
          </a:p>
        </p:txBody>
      </p:sp>
      <p:sp>
        <p:nvSpPr>
          <p:cNvPr id="15" name="Text 13"/>
          <p:cNvSpPr/>
          <p:nvPr/>
        </p:nvSpPr>
        <p:spPr>
          <a:xfrm>
            <a:off x="812800" y="4658364"/>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Como SqlCommand con parámetros, pero con </a:t>
            </a:r>
            <a:r>
              <a:rPr lang="en-US" sz="1200" b="1" dirty="0">
                <a:solidFill>
                  <a:srgbClr val="4A5563"/>
                </a:solidFill>
                <a:latin typeface="IBM Plex Sans" pitchFamily="34" charset="0"/>
                <a:ea typeface="IBM Plex Sans" pitchFamily="34" charset="-122"/>
                <a:cs typeface="IBM Plex Sans" pitchFamily="34" charset="-120"/>
              </a:rPr>
              <a:t>?</a:t>
            </a:r>
            <a:r>
              <a:rPr lang="en-US" sz="1200" dirty="0">
                <a:solidFill>
                  <a:srgbClr val="4A5563"/>
                </a:solidFill>
                <a:latin typeface="IBM Plex Sans" pitchFamily="34" charset="0"/>
                <a:ea typeface="IBM Plex Sans" pitchFamily="34" charset="-122"/>
                <a:cs typeface="IBM Plex Sans" pitchFamily="34" charset="-120"/>
              </a:rPr>
              <a:t> en vez de </a:t>
            </a:r>
            <a:r>
              <a:rPr lang="en-US" sz="1200" b="1" dirty="0">
                <a:solidFill>
                  <a:srgbClr val="4A5563"/>
                </a:solidFill>
                <a:latin typeface="IBM Plex Sans" pitchFamily="34" charset="0"/>
                <a:ea typeface="IBM Plex Sans" pitchFamily="34" charset="-122"/>
                <a:cs typeface="IBM Plex Sans" pitchFamily="34" charset="-120"/>
              </a:rPr>
              <a:t>@nombre</a:t>
            </a:r>
            <a:r>
              <a:rPr lang="en-US" sz="1200" dirty="0">
                <a:solidFill>
                  <a:srgbClr val="4A5563"/>
                </a:solidFill>
                <a:latin typeface="IBM Plex Sans" pitchFamily="34" charset="0"/>
                <a:ea typeface="IBM Plex Sans" pitchFamily="34" charset="-122"/>
                <a:cs typeface="IBM Plex Sans" pitchFamily="34" charset="-120"/>
              </a:rPr>
              <a:t>. Ojo: un INSERT con un id que ya existe </a:t>
            </a:r>
            <a:r>
              <a:rPr lang="en-US" sz="1200" b="1" dirty="0">
                <a:solidFill>
                  <a:srgbClr val="4A5563"/>
                </a:solidFill>
                <a:latin typeface="IBM Plex Sans" pitchFamily="34" charset="0"/>
                <a:ea typeface="IBM Plex Sans" pitchFamily="34" charset="-122"/>
                <a:cs typeface="IBM Plex Sans" pitchFamily="34" charset="-120"/>
              </a:rPr>
              <a:t>sobrescribe</a:t>
            </a:r>
            <a:r>
              <a:rPr lang="en-US" sz="1200" dirty="0">
                <a:solidFill>
                  <a:srgbClr val="4A5563"/>
                </a:solidFill>
                <a:latin typeface="IBM Plex Sans" pitchFamily="34" charset="0"/>
                <a:ea typeface="IBM Plex Sans" pitchFamily="34" charset="-122"/>
                <a:cs typeface="IBM Plex Sans" pitchFamily="34" charset="-120"/>
              </a:rPr>
              <a:t> la fila.</a:t>
            </a:r>
            <a:endParaRPr lang="en-US" sz="1200" dirty="0"/>
          </a:p>
        </p:txBody>
      </p:sp>
      <p:sp>
        <p:nvSpPr>
          <p:cNvPr id="16" name="Text 14"/>
          <p:cNvSpPr/>
          <p:nvPr/>
        </p:nvSpPr>
        <p:spPr>
          <a:xfrm>
            <a:off x="812800" y="6238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10</a:t>
            </a:r>
            <a:endParaRPr lang="en-US" sz="1200" dirty="0"/>
          </a:p>
        </p:txBody>
      </p:sp>
      <p:sp>
        <p:nvSpPr>
          <p:cNvPr id="17" name="Text 15"/>
          <p:cNvSpPr/>
          <p:nvPr/>
        </p:nvSpPr>
        <p:spPr>
          <a:xfrm>
            <a:off x="812800" y="304800"/>
            <a:ext cx="450533" cy="325120"/>
          </a:xfrm>
          <a:custGeom>
            <a:avLst/>
            <a:gdLst/>
            <a:ahLst/>
            <a:cxnLst/>
            <a:rect l="l" t="t" r="r" b="b"/>
            <a:pathLst>
              <a:path w="450533" h="325120">
                <a:moveTo>
                  <a:pt x="162560" y="0"/>
                </a:moveTo>
                <a:lnTo>
                  <a:pt x="287973" y="0"/>
                </a:lnTo>
                <a:arcTo hR="162560" wR="162560" stAng="16200000" swAng="5400000"/>
                <a:lnTo>
                  <a:pt x="450533" y="162560"/>
                </a:lnTo>
                <a:arcTo hR="162560" wR="162560" stAng="0" swAng="5400000"/>
                <a:lnTo>
                  <a:pt x="162560" y="325120"/>
                </a:lnTo>
                <a:arcTo hR="162560" wR="162560" stAng="5400000" swAng="5400000"/>
                <a:lnTo>
                  <a:pt x="0" y="162560"/>
                </a:lnTo>
                <a:arcTo hR="162560" wR="162560" stAng="10800000" swAng="5400000"/>
                <a:close/>
              </a:path>
            </a:pathLst>
          </a:custGeom>
          <a:solidFill>
            <a:srgbClr val="F28C38"/>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08</a:t>
            </a:r>
            <a:endParaRPr lang="en-US" sz="1400" dirty="0"/>
          </a:p>
        </p:txBody>
      </p:sp>
      <p:sp>
        <p:nvSpPr>
          <p:cNvPr id="18" name="Text 16"/>
          <p:cNvSpPr/>
          <p:nvPr/>
        </p:nvSpPr>
        <p:spPr>
          <a:xfrm>
            <a:off x="1377632" y="360679"/>
            <a:ext cx="229523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3"/>
                </a:solidFill>
                <a:latin typeface="IBM Plex Sans" pitchFamily="34" charset="0"/>
                <a:ea typeface="IBM Plex Sans" pitchFamily="34" charset="-122"/>
                <a:cs typeface="IBM Plex Sans" pitchFamily="34" charset="-120"/>
              </a:rPr>
              <a:t>CRUD EN C# </a:t>
            </a:r>
            <a:r>
              <a:rPr lang="en-US" sz="1200" b="1" spc="150" kern="0" dirty="0">
                <a:solidFill>
                  <a:srgbClr val="8796A6"/>
                </a:solidFill>
                <a:latin typeface="IBM Plex Sans" pitchFamily="34" charset="0"/>
                <a:ea typeface="IBM Plex Sans" pitchFamily="34" charset="-122"/>
                <a:cs typeface="IBM Plex Sans" pitchFamily="34" charset="-120"/>
              </a:rPr>
              <a:t>· DANIEL</a:t>
            </a:r>
            <a:endParaRPr lang="en-US" sz="1200" dirty="0"/>
          </a:p>
        </p:txBody>
      </p:sp>
      <p:sp>
        <p:nvSpPr>
          <p:cNvPr id="19" name="Shape 17"/>
          <p:cNvSpPr/>
          <p:nvPr/>
        </p:nvSpPr>
        <p:spPr>
          <a:xfrm>
            <a:off x="0" y="0"/>
            <a:ext cx="696595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Lo que ganamos </a:t>
            </a:r>
            <a:r>
              <a:rPr lang="en-US" sz="3600" b="1" i="0" dirty="0">
                <a:solidFill>
                  <a:srgbClr val="3FC1C9"/>
                </a:solidFill>
                <a:latin typeface="Space Grotesk" pitchFamily="34" charset="0"/>
                <a:ea typeface="Space Grotesk" pitchFamily="34" charset="-122"/>
                <a:cs typeface="Space Grotesk" pitchFamily="34" charset="-120"/>
              </a:rPr>
              <a:t>+</a:t>
            </a:r>
            <a:endParaRPr lang="en-US" sz="3600" dirty="0"/>
          </a:p>
        </p:txBody>
      </p:sp>
      <p:sp>
        <p:nvSpPr>
          <p:cNvPr id="3" name="Shape 1"/>
          <p:cNvSpPr/>
          <p:nvPr/>
        </p:nvSpPr>
        <p:spPr>
          <a:xfrm>
            <a:off x="812800" y="1620521"/>
            <a:ext cx="3386614" cy="1407160"/>
          </a:xfrm>
          <a:prstGeom prst="roundRect">
            <a:avLst>
              <a:gd name="adj" fmla="val 7220"/>
            </a:avLst>
          </a:prstGeom>
          <a:solidFill>
            <a:srgbClr val="16212F"/>
          </a:solidFill>
          <a:ln/>
        </p:spPr>
      </p:sp>
      <p:pic>
        <p:nvPicPr>
          <p:cNvPr id="4" name="Image 0" descr="Lightning">    </p:cNvPr>
          <p:cNvPicPr>
            <a:picLocks noChangeAspect="1"/>
          </p:cNvPicPr>
          <p:nvPr/>
        </p:nvPicPr>
        <p:blipFill>
          <a:blip r:embed="rId1"/>
          <a:srcRect l="0" r="0" t="0" b="0"/>
          <a:stretch/>
        </p:blipFill>
        <p:spPr>
          <a:xfrm>
            <a:off x="1016000" y="1798321"/>
            <a:ext cx="254000" cy="254000"/>
          </a:xfrm>
          <a:prstGeom prst="rect">
            <a:avLst/>
          </a:prstGeom>
        </p:spPr>
      </p:pic>
      <p:sp>
        <p:nvSpPr>
          <p:cNvPr id="5" name="Text 2"/>
          <p:cNvSpPr/>
          <p:nvPr/>
        </p:nvSpPr>
        <p:spPr>
          <a:xfrm>
            <a:off x="1016000" y="2115821"/>
            <a:ext cx="30696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Escala en horizontal</a:t>
            </a:r>
            <a:endParaRPr lang="en-US" sz="1600" dirty="0"/>
          </a:p>
        </p:txBody>
      </p:sp>
      <p:sp>
        <p:nvSpPr>
          <p:cNvPr id="6" name="Text 3"/>
          <p:cNvSpPr/>
          <p:nvPr/>
        </p:nvSpPr>
        <p:spPr>
          <a:xfrm>
            <a:off x="1016000" y="2423164"/>
            <a:ext cx="30696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¿Necesitas el doble? Añade el doble de nodos, sin apagar la app.</a:t>
            </a:r>
            <a:endParaRPr lang="en-US" sz="1200" dirty="0"/>
          </a:p>
        </p:txBody>
      </p:sp>
      <p:sp>
        <p:nvSpPr>
          <p:cNvPr id="7" name="Shape 4"/>
          <p:cNvSpPr/>
          <p:nvPr/>
        </p:nvSpPr>
        <p:spPr>
          <a:xfrm>
            <a:off x="4402614" y="1620521"/>
            <a:ext cx="3386693" cy="1407160"/>
          </a:xfrm>
          <a:prstGeom prst="roundRect">
            <a:avLst>
              <a:gd name="adj" fmla="val 7220"/>
            </a:avLst>
          </a:prstGeom>
          <a:solidFill>
            <a:srgbClr val="16212F"/>
          </a:solidFill>
          <a:ln/>
        </p:spPr>
      </p:sp>
      <p:pic>
        <p:nvPicPr>
          <p:cNvPr id="8" name="Image 1" descr="Trust">    </p:cNvPr>
          <p:cNvPicPr>
            <a:picLocks noChangeAspect="1"/>
          </p:cNvPicPr>
          <p:nvPr/>
        </p:nvPicPr>
        <p:blipFill>
          <a:blip r:embed="rId2"/>
          <a:srcRect l="0" r="0" t="0" b="0"/>
          <a:stretch/>
        </p:blipFill>
        <p:spPr>
          <a:xfrm>
            <a:off x="4605814" y="1798321"/>
            <a:ext cx="254000" cy="254000"/>
          </a:xfrm>
          <a:prstGeom prst="rect">
            <a:avLst/>
          </a:prstGeom>
        </p:spPr>
      </p:pic>
      <p:sp>
        <p:nvSpPr>
          <p:cNvPr id="9" name="Text 5"/>
          <p:cNvSpPr/>
          <p:nvPr/>
        </p:nvSpPr>
        <p:spPr>
          <a:xfrm>
            <a:off x="4605814" y="2115821"/>
            <a:ext cx="306970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Sin punto único de fallo</a:t>
            </a:r>
            <a:endParaRPr lang="en-US" sz="1600" dirty="0"/>
          </a:p>
        </p:txBody>
      </p:sp>
      <p:sp>
        <p:nvSpPr>
          <p:cNvPr id="10" name="Text 6"/>
          <p:cNvSpPr/>
          <p:nvPr/>
        </p:nvSpPr>
        <p:spPr>
          <a:xfrm>
            <a:off x="4605814" y="2423164"/>
            <a:ext cx="30697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Todos los nodos son iguales. Si cae uno, los demás siguen.</a:t>
            </a:r>
            <a:endParaRPr lang="en-US" sz="1200" dirty="0"/>
          </a:p>
        </p:txBody>
      </p:sp>
      <p:sp>
        <p:nvSpPr>
          <p:cNvPr id="11" name="Shape 7"/>
          <p:cNvSpPr/>
          <p:nvPr/>
        </p:nvSpPr>
        <p:spPr>
          <a:xfrm>
            <a:off x="7992507" y="1620521"/>
            <a:ext cx="3386693" cy="1407160"/>
          </a:xfrm>
          <a:prstGeom prst="roundRect">
            <a:avLst>
              <a:gd name="adj" fmla="val 7220"/>
            </a:avLst>
          </a:prstGeom>
          <a:solidFill>
            <a:srgbClr val="16212F"/>
          </a:solidFill>
          <a:ln/>
        </p:spPr>
      </p:sp>
      <p:pic>
        <p:nvPicPr>
          <p:cNvPr id="12" name="Image 2" descr="Activity">    </p:cNvPr>
          <p:cNvPicPr>
            <a:picLocks noChangeAspect="1"/>
          </p:cNvPicPr>
          <p:nvPr/>
        </p:nvPicPr>
        <p:blipFill>
          <a:blip r:embed="rId3"/>
          <a:srcRect l="0" r="0" t="0" b="0"/>
          <a:stretch/>
        </p:blipFill>
        <p:spPr>
          <a:xfrm>
            <a:off x="8195707" y="1798321"/>
            <a:ext cx="254000" cy="254000"/>
          </a:xfrm>
          <a:prstGeom prst="rect">
            <a:avLst/>
          </a:prstGeom>
        </p:spPr>
      </p:pic>
      <p:sp>
        <p:nvSpPr>
          <p:cNvPr id="13" name="Text 8"/>
          <p:cNvSpPr/>
          <p:nvPr/>
        </p:nvSpPr>
        <p:spPr>
          <a:xfrm>
            <a:off x="8195707" y="2115821"/>
            <a:ext cx="306970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Escrituras muy rápidas</a:t>
            </a:r>
            <a:endParaRPr lang="en-US" sz="1600" dirty="0"/>
          </a:p>
        </p:txBody>
      </p:sp>
      <p:sp>
        <p:nvSpPr>
          <p:cNvPr id="14" name="Text 9"/>
          <p:cNvSpPr/>
          <p:nvPr/>
        </p:nvSpPr>
        <p:spPr>
          <a:xfrm>
            <a:off x="8195707" y="2423164"/>
            <a:ext cx="30697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Ideal para muchísimas inserciones: sensores, mensajes, logs.</a:t>
            </a:r>
            <a:endParaRPr lang="en-US" sz="1200" dirty="0"/>
          </a:p>
        </p:txBody>
      </p:sp>
      <p:sp>
        <p:nvSpPr>
          <p:cNvPr id="15" name="Shape 10"/>
          <p:cNvSpPr/>
          <p:nvPr/>
        </p:nvSpPr>
        <p:spPr>
          <a:xfrm>
            <a:off x="812800" y="3230879"/>
            <a:ext cx="3386614" cy="1407160"/>
          </a:xfrm>
          <a:prstGeom prst="roundRect">
            <a:avLst>
              <a:gd name="adj" fmla="val 7220"/>
            </a:avLst>
          </a:prstGeom>
          <a:solidFill>
            <a:srgbClr val="16212F"/>
          </a:solidFill>
          <a:ln/>
        </p:spPr>
      </p:sp>
      <p:pic>
        <p:nvPicPr>
          <p:cNvPr id="16" name="Image 3" descr="Globe">    </p:cNvPr>
          <p:cNvPicPr>
            <a:picLocks noChangeAspect="1"/>
          </p:cNvPicPr>
          <p:nvPr/>
        </p:nvPicPr>
        <p:blipFill>
          <a:blip r:embed="rId4"/>
          <a:srcRect l="0" r="0" t="0" b="0"/>
          <a:stretch/>
        </p:blipFill>
        <p:spPr>
          <a:xfrm>
            <a:off x="1016000" y="3408679"/>
            <a:ext cx="254000" cy="254000"/>
          </a:xfrm>
          <a:prstGeom prst="rect">
            <a:avLst/>
          </a:prstGeom>
        </p:spPr>
      </p:pic>
      <p:sp>
        <p:nvSpPr>
          <p:cNvPr id="17" name="Text 11"/>
          <p:cNvSpPr/>
          <p:nvPr/>
        </p:nvSpPr>
        <p:spPr>
          <a:xfrm>
            <a:off x="1016000" y="3726179"/>
            <a:ext cx="30696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Varios centros de datos</a:t>
            </a:r>
            <a:endParaRPr lang="en-US" sz="1600" dirty="0"/>
          </a:p>
        </p:txBody>
      </p:sp>
      <p:sp>
        <p:nvSpPr>
          <p:cNvPr id="18" name="Text 12"/>
          <p:cNvSpPr/>
          <p:nvPr/>
        </p:nvSpPr>
        <p:spPr>
          <a:xfrm>
            <a:off x="1016000" y="4033521"/>
            <a:ext cx="30696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Copia los datos entre países: cada usuario lee del más cercano.</a:t>
            </a:r>
            <a:endParaRPr lang="en-US" sz="1200" dirty="0"/>
          </a:p>
        </p:txBody>
      </p:sp>
      <p:sp>
        <p:nvSpPr>
          <p:cNvPr id="19" name="Shape 13"/>
          <p:cNvSpPr/>
          <p:nvPr/>
        </p:nvSpPr>
        <p:spPr>
          <a:xfrm>
            <a:off x="4402614" y="3230879"/>
            <a:ext cx="3386693" cy="1407160"/>
          </a:xfrm>
          <a:prstGeom prst="roundRect">
            <a:avLst>
              <a:gd name="adj" fmla="val 7220"/>
            </a:avLst>
          </a:prstGeom>
          <a:solidFill>
            <a:srgbClr val="16212F"/>
          </a:solidFill>
          <a:ln/>
        </p:spPr>
      </p:sp>
      <p:pic>
        <p:nvPicPr>
          <p:cNvPr id="20" name="Image 4" descr="Settings">    </p:cNvPr>
          <p:cNvPicPr>
            <a:picLocks noChangeAspect="1"/>
          </p:cNvPicPr>
          <p:nvPr/>
        </p:nvPicPr>
        <p:blipFill>
          <a:blip r:embed="rId5"/>
          <a:srcRect l="0" r="0" t="0" b="0"/>
          <a:stretch/>
        </p:blipFill>
        <p:spPr>
          <a:xfrm>
            <a:off x="4605814" y="3408679"/>
            <a:ext cx="254000" cy="254000"/>
          </a:xfrm>
          <a:prstGeom prst="rect">
            <a:avLst/>
          </a:prstGeom>
        </p:spPr>
      </p:pic>
      <p:sp>
        <p:nvSpPr>
          <p:cNvPr id="21" name="Text 14"/>
          <p:cNvSpPr/>
          <p:nvPr/>
        </p:nvSpPr>
        <p:spPr>
          <a:xfrm>
            <a:off x="4605814" y="3726179"/>
            <a:ext cx="306970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Esquema flexible</a:t>
            </a:r>
            <a:endParaRPr lang="en-US" sz="1600" dirty="0"/>
          </a:p>
        </p:txBody>
      </p:sp>
      <p:sp>
        <p:nvSpPr>
          <p:cNvPr id="22" name="Text 15"/>
          <p:cNvSpPr/>
          <p:nvPr/>
        </p:nvSpPr>
        <p:spPr>
          <a:xfrm>
            <a:off x="4605814" y="4033521"/>
            <a:ext cx="30697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Cada fila guarda solo sus columnas. Admite listas, mapas y conjuntos.</a:t>
            </a:r>
            <a:endParaRPr lang="en-US" sz="1200" dirty="0"/>
          </a:p>
        </p:txBody>
      </p:sp>
      <p:sp>
        <p:nvSpPr>
          <p:cNvPr id="23" name="Shape 16"/>
          <p:cNvSpPr/>
          <p:nvPr/>
        </p:nvSpPr>
        <p:spPr>
          <a:xfrm>
            <a:off x="7992507" y="3230879"/>
            <a:ext cx="3386693" cy="1407160"/>
          </a:xfrm>
          <a:prstGeom prst="roundRect">
            <a:avLst>
              <a:gd name="adj" fmla="val 7220"/>
            </a:avLst>
          </a:prstGeom>
          <a:solidFill>
            <a:srgbClr val="16212F"/>
          </a:solidFill>
          <a:ln/>
        </p:spPr>
      </p:sp>
      <p:pic>
        <p:nvPicPr>
          <p:cNvPr id="24" name="Image 5" descr="Wrench">    </p:cNvPr>
          <p:cNvPicPr>
            <a:picLocks noChangeAspect="1"/>
          </p:cNvPicPr>
          <p:nvPr/>
        </p:nvPicPr>
        <p:blipFill>
          <a:blip r:embed="rId6"/>
          <a:srcRect l="0" r="0" t="0" b="0"/>
          <a:stretch/>
        </p:blipFill>
        <p:spPr>
          <a:xfrm>
            <a:off x="8195707" y="3408679"/>
            <a:ext cx="254000" cy="254000"/>
          </a:xfrm>
          <a:prstGeom prst="rect">
            <a:avLst/>
          </a:prstGeom>
        </p:spPr>
      </p:pic>
      <p:sp>
        <p:nvSpPr>
          <p:cNvPr id="25" name="Text 17"/>
          <p:cNvSpPr/>
          <p:nvPr/>
        </p:nvSpPr>
        <p:spPr>
          <a:xfrm>
            <a:off x="8195707" y="3726179"/>
            <a:ext cx="306970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Consistencia a la carta</a:t>
            </a:r>
            <a:endParaRPr lang="en-US" sz="1600" dirty="0"/>
          </a:p>
        </p:txBody>
      </p:sp>
      <p:sp>
        <p:nvSpPr>
          <p:cNvPr id="26" name="Text 18"/>
          <p:cNvSpPr/>
          <p:nvPr/>
        </p:nvSpPr>
        <p:spPr>
          <a:xfrm>
            <a:off x="8195707" y="4033521"/>
            <a:ext cx="30697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Eliges en cada consulta: ONE (rápido) o QUORUM (más seguro).</a:t>
            </a:r>
            <a:endParaRPr lang="en-US" sz="1200" dirty="0"/>
          </a:p>
        </p:txBody>
      </p:sp>
      <p:sp>
        <p:nvSpPr>
          <p:cNvPr id="27" name="Text 19"/>
          <p:cNvSpPr/>
          <p:nvPr/>
        </p:nvSpPr>
        <p:spPr>
          <a:xfrm>
            <a:off x="812800" y="6238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11</a:t>
            </a:r>
            <a:endParaRPr lang="en-US" sz="1200" dirty="0"/>
          </a:p>
        </p:txBody>
      </p:sp>
      <p:sp>
        <p:nvSpPr>
          <p:cNvPr id="28" name="Text 20"/>
          <p:cNvSpPr/>
          <p:nvPr/>
        </p:nvSpPr>
        <p:spPr>
          <a:xfrm>
            <a:off x="812800" y="304800"/>
            <a:ext cx="453708" cy="325120"/>
          </a:xfrm>
          <a:custGeom>
            <a:avLst/>
            <a:gdLst/>
            <a:ahLst/>
            <a:cxnLst/>
            <a:rect l="l" t="t" r="r" b="b"/>
            <a:pathLst>
              <a:path w="453708" h="325120">
                <a:moveTo>
                  <a:pt x="162560" y="0"/>
                </a:moveTo>
                <a:lnTo>
                  <a:pt x="291148" y="0"/>
                </a:lnTo>
                <a:arcTo hR="162560" wR="162560" stAng="16200000" swAng="5400000"/>
                <a:lnTo>
                  <a:pt x="453708" y="162560"/>
                </a:lnTo>
                <a:arcTo hR="162560" wR="162560" stAng="0" swAng="5400000"/>
                <a:lnTo>
                  <a:pt x="162560" y="325120"/>
                </a:lnTo>
                <a:arcTo hR="162560" wR="162560" stAng="5400000" swAng="5400000"/>
                <a:lnTo>
                  <a:pt x="0" y="162560"/>
                </a:lnTo>
                <a:arcTo hR="162560" wR="162560" stAng="10800000" swAng="5400000"/>
                <a:close/>
              </a:path>
            </a:pathLst>
          </a:custGeom>
          <a:solidFill>
            <a:srgbClr val="F4F1EA"/>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09</a:t>
            </a:r>
            <a:endParaRPr lang="en-US" sz="1400" dirty="0"/>
          </a:p>
        </p:txBody>
      </p:sp>
      <p:sp>
        <p:nvSpPr>
          <p:cNvPr id="29" name="Text 21"/>
          <p:cNvSpPr/>
          <p:nvPr/>
        </p:nvSpPr>
        <p:spPr>
          <a:xfrm>
            <a:off x="1380807" y="360679"/>
            <a:ext cx="196386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7C4D1"/>
                </a:solidFill>
                <a:latin typeface="IBM Plex Sans" pitchFamily="34" charset="0"/>
                <a:ea typeface="IBM Plex Sans" pitchFamily="34" charset="-122"/>
                <a:cs typeface="IBM Plex Sans" pitchFamily="34" charset="-120"/>
              </a:rPr>
              <a:t>VENTAJAS </a:t>
            </a:r>
            <a:r>
              <a:rPr lang="en-US" sz="1200" b="1" spc="150" kern="0" dirty="0">
                <a:solidFill>
                  <a:srgbClr val="8796A6"/>
                </a:solidFill>
                <a:latin typeface="IBM Plex Sans" pitchFamily="34" charset="0"/>
                <a:ea typeface="IBM Plex Sans" pitchFamily="34" charset="-122"/>
                <a:cs typeface="IBM Plex Sans" pitchFamily="34" charset="-120"/>
              </a:rPr>
              <a:t>· ASIER</a:t>
            </a:r>
            <a:endParaRPr lang="en-US" sz="1200" dirty="0"/>
          </a:p>
        </p:txBody>
      </p:sp>
      <p:sp>
        <p:nvSpPr>
          <p:cNvPr id="30" name="Shape 22"/>
          <p:cNvSpPr/>
          <p:nvPr/>
        </p:nvSpPr>
        <p:spPr>
          <a:xfrm>
            <a:off x="0" y="0"/>
            <a:ext cx="783590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Lo que perdemos </a:t>
            </a:r>
            <a:r>
              <a:rPr lang="en-US" sz="3600" b="1" i="0" dirty="0">
                <a:solidFill>
                  <a:srgbClr val="F28C38"/>
                </a:solidFill>
                <a:latin typeface="Space Grotesk" pitchFamily="34" charset="0"/>
                <a:ea typeface="Space Grotesk" pitchFamily="34" charset="-122"/>
                <a:cs typeface="Space Grotesk" pitchFamily="34" charset="-120"/>
              </a:rPr>
              <a:t>−</a:t>
            </a:r>
            <a:endParaRPr lang="en-US" sz="3600" dirty="0"/>
          </a:p>
        </p:txBody>
      </p:sp>
      <p:sp>
        <p:nvSpPr>
          <p:cNvPr id="3" name="Shape 1"/>
          <p:cNvSpPr/>
          <p:nvPr/>
        </p:nvSpPr>
        <p:spPr>
          <a:xfrm>
            <a:off x="812800" y="1620521"/>
            <a:ext cx="3386614" cy="1242060"/>
          </a:xfrm>
          <a:prstGeom prst="roundRect">
            <a:avLst>
              <a:gd name="adj" fmla="val 8180"/>
            </a:avLst>
          </a:prstGeom>
          <a:solidFill>
            <a:srgbClr val="16212F"/>
          </a:solidFill>
          <a:ln/>
        </p:spPr>
      </p:sp>
      <p:sp>
        <p:nvSpPr>
          <p:cNvPr id="4" name="Shape 2"/>
          <p:cNvSpPr/>
          <p:nvPr/>
        </p:nvSpPr>
        <p:spPr>
          <a:xfrm>
            <a:off x="812800" y="1620521"/>
            <a:ext cx="3386614" cy="1242060"/>
          </a:xfrm>
          <a:custGeom>
            <a:avLst/>
            <a:gdLst/>
            <a:ahLst/>
            <a:cxnLst/>
            <a:rect l="l" t="t" r="r" b="b"/>
            <a:pathLst>
              <a:path w="3386614" h="1242060">
                <a:moveTo>
                  <a:pt x="0" y="101600"/>
                </a:moveTo>
                <a:lnTo>
                  <a:pt x="0" y="101600"/>
                </a:lnTo>
                <a:arcTo hR="101600" wR="101600" stAng="10800000" swAng="5400000"/>
                <a:lnTo>
                  <a:pt x="3285014" y="0"/>
                </a:lnTo>
                <a:arcTo hR="101600" wR="101600" stAng="16200000" swAng="5400000"/>
                <a:lnTo>
                  <a:pt x="3386614" y="101600"/>
                </a:lnTo>
                <a:arcTo hR="76200" wR="101600" stAng="0" swAng="-5400000"/>
                <a:lnTo>
                  <a:pt x="101600" y="25400"/>
                </a:lnTo>
                <a:arcTo hR="76200" wR="101600" stAng="16200000" swAng="-5400000"/>
                <a:close/>
              </a:path>
            </a:pathLst>
          </a:custGeom>
          <a:solidFill>
            <a:srgbClr val="F28C38"/>
          </a:solidFill>
          <a:ln/>
        </p:spPr>
      </p:sp>
      <p:sp>
        <p:nvSpPr>
          <p:cNvPr id="5" name="Text 3"/>
          <p:cNvSpPr/>
          <p:nvPr/>
        </p:nvSpPr>
        <p:spPr>
          <a:xfrm>
            <a:off x="1066800" y="1874521"/>
            <a:ext cx="29649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8C38"/>
                </a:solidFill>
                <a:latin typeface="IBM Plex Sans" pitchFamily="34" charset="0"/>
                <a:ea typeface="IBM Plex Sans" pitchFamily="34" charset="-122"/>
                <a:cs typeface="IBM Plex Sans" pitchFamily="34" charset="-120"/>
              </a:rPr>
              <a:t>Sin JOINs</a:t>
            </a:r>
            <a:endParaRPr lang="en-US" sz="1600" dirty="0"/>
          </a:p>
        </p:txBody>
      </p:sp>
      <p:sp>
        <p:nvSpPr>
          <p:cNvPr id="6" name="Text 4"/>
          <p:cNvSpPr/>
          <p:nvPr/>
        </p:nvSpPr>
        <p:spPr>
          <a:xfrm>
            <a:off x="1066800" y="2207264"/>
            <a:ext cx="29649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Si necesitas datos de dos tablas, los duplicas al escribir.</a:t>
            </a:r>
            <a:endParaRPr lang="en-US" sz="1200" dirty="0"/>
          </a:p>
        </p:txBody>
      </p:sp>
      <p:sp>
        <p:nvSpPr>
          <p:cNvPr id="7" name="Shape 5"/>
          <p:cNvSpPr/>
          <p:nvPr/>
        </p:nvSpPr>
        <p:spPr>
          <a:xfrm>
            <a:off x="4402614" y="1620521"/>
            <a:ext cx="3386693" cy="1242060"/>
          </a:xfrm>
          <a:prstGeom prst="roundRect">
            <a:avLst>
              <a:gd name="adj" fmla="val 8180"/>
            </a:avLst>
          </a:prstGeom>
          <a:solidFill>
            <a:srgbClr val="16212F"/>
          </a:solidFill>
          <a:ln/>
        </p:spPr>
      </p:sp>
      <p:sp>
        <p:nvSpPr>
          <p:cNvPr id="8" name="Shape 6"/>
          <p:cNvSpPr/>
          <p:nvPr/>
        </p:nvSpPr>
        <p:spPr>
          <a:xfrm>
            <a:off x="4402614" y="1620521"/>
            <a:ext cx="3386693" cy="1242060"/>
          </a:xfrm>
          <a:custGeom>
            <a:avLst/>
            <a:gdLst/>
            <a:ahLst/>
            <a:cxnLst/>
            <a:rect l="l" t="t" r="r" b="b"/>
            <a:pathLst>
              <a:path w="3386693" h="1242060">
                <a:moveTo>
                  <a:pt x="0" y="101600"/>
                </a:moveTo>
                <a:lnTo>
                  <a:pt x="0" y="101600"/>
                </a:lnTo>
                <a:arcTo hR="101600" wR="101600" stAng="10800000" swAng="5400000"/>
                <a:lnTo>
                  <a:pt x="3285093" y="0"/>
                </a:lnTo>
                <a:arcTo hR="101600" wR="101600" stAng="16200000" swAng="5400000"/>
                <a:lnTo>
                  <a:pt x="3386693" y="101600"/>
                </a:lnTo>
                <a:arcTo hR="76200" wR="101600" stAng="0" swAng="-5400000"/>
                <a:lnTo>
                  <a:pt x="101600" y="25400"/>
                </a:lnTo>
                <a:arcTo hR="76200" wR="101600" stAng="16200000" swAng="-5400000"/>
                <a:close/>
              </a:path>
            </a:pathLst>
          </a:custGeom>
          <a:solidFill>
            <a:srgbClr val="F28C38"/>
          </a:solidFill>
          <a:ln/>
        </p:spPr>
      </p:sp>
      <p:sp>
        <p:nvSpPr>
          <p:cNvPr id="9" name="Text 7"/>
          <p:cNvSpPr/>
          <p:nvPr/>
        </p:nvSpPr>
        <p:spPr>
          <a:xfrm>
            <a:off x="4656614" y="1874521"/>
            <a:ext cx="296505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8C38"/>
                </a:solidFill>
                <a:latin typeface="IBM Plex Sans" pitchFamily="34" charset="0"/>
                <a:ea typeface="IBM Plex Sans" pitchFamily="34" charset="-122"/>
                <a:cs typeface="IBM Plex Sans" pitchFamily="34" charset="-120"/>
              </a:rPr>
              <a:t>Sin claves foráneas</a:t>
            </a:r>
            <a:endParaRPr lang="en-US" sz="1600" dirty="0"/>
          </a:p>
        </p:txBody>
      </p:sp>
      <p:sp>
        <p:nvSpPr>
          <p:cNvPr id="10" name="Text 8"/>
          <p:cNvSpPr/>
          <p:nvPr/>
        </p:nvSpPr>
        <p:spPr>
          <a:xfrm>
            <a:off x="4656614" y="2207264"/>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El motor no comprueba que la persona exista. Lo vigila tu código.</a:t>
            </a:r>
            <a:endParaRPr lang="en-US" sz="1200" dirty="0"/>
          </a:p>
        </p:txBody>
      </p:sp>
      <p:sp>
        <p:nvSpPr>
          <p:cNvPr id="11" name="Shape 9"/>
          <p:cNvSpPr/>
          <p:nvPr/>
        </p:nvSpPr>
        <p:spPr>
          <a:xfrm>
            <a:off x="7992507" y="1620521"/>
            <a:ext cx="3386693" cy="1242060"/>
          </a:xfrm>
          <a:prstGeom prst="roundRect">
            <a:avLst>
              <a:gd name="adj" fmla="val 8180"/>
            </a:avLst>
          </a:prstGeom>
          <a:solidFill>
            <a:srgbClr val="16212F"/>
          </a:solidFill>
          <a:ln/>
        </p:spPr>
      </p:sp>
      <p:sp>
        <p:nvSpPr>
          <p:cNvPr id="12" name="Shape 10"/>
          <p:cNvSpPr/>
          <p:nvPr/>
        </p:nvSpPr>
        <p:spPr>
          <a:xfrm>
            <a:off x="7992507" y="1620521"/>
            <a:ext cx="3386693" cy="1242060"/>
          </a:xfrm>
          <a:custGeom>
            <a:avLst/>
            <a:gdLst/>
            <a:ahLst/>
            <a:cxnLst/>
            <a:rect l="l" t="t" r="r" b="b"/>
            <a:pathLst>
              <a:path w="3386693" h="1242060">
                <a:moveTo>
                  <a:pt x="0" y="101600"/>
                </a:moveTo>
                <a:lnTo>
                  <a:pt x="0" y="101600"/>
                </a:lnTo>
                <a:arcTo hR="101600" wR="101600" stAng="10800000" swAng="5400000"/>
                <a:lnTo>
                  <a:pt x="3285093" y="0"/>
                </a:lnTo>
                <a:arcTo hR="101600" wR="101600" stAng="16200000" swAng="5400000"/>
                <a:lnTo>
                  <a:pt x="3386693" y="101600"/>
                </a:lnTo>
                <a:arcTo hR="76200" wR="101600" stAng="0" swAng="-5400000"/>
                <a:lnTo>
                  <a:pt x="101600" y="25400"/>
                </a:lnTo>
                <a:arcTo hR="76200" wR="101600" stAng="16200000" swAng="-5400000"/>
                <a:close/>
              </a:path>
            </a:pathLst>
          </a:custGeom>
          <a:solidFill>
            <a:srgbClr val="F28C38"/>
          </a:solidFill>
          <a:ln/>
        </p:spPr>
      </p:sp>
      <p:sp>
        <p:nvSpPr>
          <p:cNvPr id="13" name="Text 11"/>
          <p:cNvSpPr/>
          <p:nvPr/>
        </p:nvSpPr>
        <p:spPr>
          <a:xfrm>
            <a:off x="8246507" y="1874521"/>
            <a:ext cx="296505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8C38"/>
                </a:solidFill>
                <a:latin typeface="IBM Plex Sans" pitchFamily="34" charset="0"/>
                <a:ea typeface="IBM Plex Sans" pitchFamily="34" charset="-122"/>
                <a:cs typeface="IBM Plex Sans" pitchFamily="34" charset="-120"/>
              </a:rPr>
              <a:t>ACID limitado</a:t>
            </a:r>
            <a:endParaRPr lang="en-US" sz="1600" dirty="0"/>
          </a:p>
        </p:txBody>
      </p:sp>
      <p:sp>
        <p:nvSpPr>
          <p:cNvPr id="14" name="Text 12"/>
          <p:cNvSpPr/>
          <p:nvPr/>
        </p:nvSpPr>
        <p:spPr>
          <a:xfrm>
            <a:off x="8246507" y="2207264"/>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Nada de BEGIN TRAN y ROLLBACK entre varias tablas como en SQL Server.</a:t>
            </a:r>
            <a:endParaRPr lang="en-US" sz="1200" dirty="0"/>
          </a:p>
        </p:txBody>
      </p:sp>
      <p:sp>
        <p:nvSpPr>
          <p:cNvPr id="15" name="Shape 13"/>
          <p:cNvSpPr/>
          <p:nvPr/>
        </p:nvSpPr>
        <p:spPr>
          <a:xfrm>
            <a:off x="812800" y="3065779"/>
            <a:ext cx="3386614" cy="1242060"/>
          </a:xfrm>
          <a:prstGeom prst="roundRect">
            <a:avLst>
              <a:gd name="adj" fmla="val 8180"/>
            </a:avLst>
          </a:prstGeom>
          <a:solidFill>
            <a:srgbClr val="16212F"/>
          </a:solidFill>
          <a:ln/>
        </p:spPr>
      </p:sp>
      <p:sp>
        <p:nvSpPr>
          <p:cNvPr id="16" name="Shape 14"/>
          <p:cNvSpPr/>
          <p:nvPr/>
        </p:nvSpPr>
        <p:spPr>
          <a:xfrm>
            <a:off x="812800" y="3065779"/>
            <a:ext cx="3386614" cy="1242060"/>
          </a:xfrm>
          <a:custGeom>
            <a:avLst/>
            <a:gdLst/>
            <a:ahLst/>
            <a:cxnLst/>
            <a:rect l="l" t="t" r="r" b="b"/>
            <a:pathLst>
              <a:path w="3386614" h="1242060">
                <a:moveTo>
                  <a:pt x="0" y="101600"/>
                </a:moveTo>
                <a:lnTo>
                  <a:pt x="0" y="101600"/>
                </a:lnTo>
                <a:arcTo hR="101600" wR="101600" stAng="10800000" swAng="5400000"/>
                <a:lnTo>
                  <a:pt x="3285014" y="0"/>
                </a:lnTo>
                <a:arcTo hR="101600" wR="101600" stAng="16200000" swAng="5400000"/>
                <a:lnTo>
                  <a:pt x="3386614" y="101600"/>
                </a:lnTo>
                <a:arcTo hR="76200" wR="101600" stAng="0" swAng="-5400000"/>
                <a:lnTo>
                  <a:pt x="101600" y="25400"/>
                </a:lnTo>
                <a:arcTo hR="76200" wR="101600" stAng="16200000" swAng="-5400000"/>
                <a:close/>
              </a:path>
            </a:pathLst>
          </a:custGeom>
          <a:solidFill>
            <a:srgbClr val="F28C38"/>
          </a:solidFill>
          <a:ln/>
        </p:spPr>
      </p:sp>
      <p:sp>
        <p:nvSpPr>
          <p:cNvPr id="17" name="Text 15"/>
          <p:cNvSpPr/>
          <p:nvPr/>
        </p:nvSpPr>
        <p:spPr>
          <a:xfrm>
            <a:off x="1066800" y="3319779"/>
            <a:ext cx="29649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8C38"/>
                </a:solidFill>
                <a:latin typeface="IBM Plex Sans" pitchFamily="34" charset="0"/>
                <a:ea typeface="IBM Plex Sans" pitchFamily="34" charset="-122"/>
                <a:cs typeface="IBM Plex Sans" pitchFamily="34" charset="-120"/>
              </a:rPr>
              <a:t>Consultas rígidas</a:t>
            </a:r>
            <a:endParaRPr lang="en-US" sz="1600" dirty="0"/>
          </a:p>
        </p:txBody>
      </p:sp>
      <p:sp>
        <p:nvSpPr>
          <p:cNvPr id="18" name="Text 16"/>
          <p:cNvSpPr/>
          <p:nvPr/>
        </p:nvSpPr>
        <p:spPr>
          <a:xfrm>
            <a:off x="1066800" y="3652521"/>
            <a:ext cx="29649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Solo se filtra bien por la clave. Pregunta nueva, tabla nueva.</a:t>
            </a:r>
            <a:endParaRPr lang="en-US" sz="1200" dirty="0"/>
          </a:p>
        </p:txBody>
      </p:sp>
      <p:sp>
        <p:nvSpPr>
          <p:cNvPr id="19" name="Shape 17"/>
          <p:cNvSpPr/>
          <p:nvPr/>
        </p:nvSpPr>
        <p:spPr>
          <a:xfrm>
            <a:off x="4402614" y="3065779"/>
            <a:ext cx="3386693" cy="1242060"/>
          </a:xfrm>
          <a:prstGeom prst="roundRect">
            <a:avLst>
              <a:gd name="adj" fmla="val 8180"/>
            </a:avLst>
          </a:prstGeom>
          <a:solidFill>
            <a:srgbClr val="16212F"/>
          </a:solidFill>
          <a:ln/>
        </p:spPr>
      </p:sp>
      <p:sp>
        <p:nvSpPr>
          <p:cNvPr id="20" name="Shape 18"/>
          <p:cNvSpPr/>
          <p:nvPr/>
        </p:nvSpPr>
        <p:spPr>
          <a:xfrm>
            <a:off x="4402614" y="3065779"/>
            <a:ext cx="3386693" cy="1242060"/>
          </a:xfrm>
          <a:custGeom>
            <a:avLst/>
            <a:gdLst/>
            <a:ahLst/>
            <a:cxnLst/>
            <a:rect l="l" t="t" r="r" b="b"/>
            <a:pathLst>
              <a:path w="3386693" h="1242060">
                <a:moveTo>
                  <a:pt x="0" y="101600"/>
                </a:moveTo>
                <a:lnTo>
                  <a:pt x="0" y="101600"/>
                </a:lnTo>
                <a:arcTo hR="101600" wR="101600" stAng="10800000" swAng="5400000"/>
                <a:lnTo>
                  <a:pt x="3285093" y="0"/>
                </a:lnTo>
                <a:arcTo hR="101600" wR="101600" stAng="16200000" swAng="5400000"/>
                <a:lnTo>
                  <a:pt x="3386693" y="101600"/>
                </a:lnTo>
                <a:arcTo hR="76200" wR="101600" stAng="0" swAng="-5400000"/>
                <a:lnTo>
                  <a:pt x="101600" y="25400"/>
                </a:lnTo>
                <a:arcTo hR="76200" wR="101600" stAng="16200000" swAng="-5400000"/>
                <a:close/>
              </a:path>
            </a:pathLst>
          </a:custGeom>
          <a:solidFill>
            <a:srgbClr val="F28C38"/>
          </a:solidFill>
          <a:ln/>
        </p:spPr>
      </p:sp>
      <p:sp>
        <p:nvSpPr>
          <p:cNvPr id="21" name="Text 19"/>
          <p:cNvSpPr/>
          <p:nvPr/>
        </p:nvSpPr>
        <p:spPr>
          <a:xfrm>
            <a:off x="4656614" y="3319779"/>
            <a:ext cx="296505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8C38"/>
                </a:solidFill>
                <a:latin typeface="IBM Plex Sans" pitchFamily="34" charset="0"/>
                <a:ea typeface="IBM Plex Sans" pitchFamily="34" charset="-122"/>
                <a:cs typeface="IBM Plex Sans" pitchFamily="34" charset="-120"/>
              </a:rPr>
              <a:t>Consistencia eventual</a:t>
            </a:r>
            <a:endParaRPr lang="en-US" sz="1600" dirty="0"/>
          </a:p>
        </p:txBody>
      </p:sp>
      <p:sp>
        <p:nvSpPr>
          <p:cNvPr id="22" name="Text 20"/>
          <p:cNvSpPr/>
          <p:nvPr/>
        </p:nvSpPr>
        <p:spPr>
          <a:xfrm>
            <a:off x="4656614" y="3652521"/>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Durante un instante, dos copias pueden tener valores distintos.</a:t>
            </a:r>
            <a:endParaRPr lang="en-US" sz="1200" dirty="0"/>
          </a:p>
        </p:txBody>
      </p:sp>
      <p:sp>
        <p:nvSpPr>
          <p:cNvPr id="23" name="Shape 21"/>
          <p:cNvSpPr/>
          <p:nvPr/>
        </p:nvSpPr>
        <p:spPr>
          <a:xfrm>
            <a:off x="7992507" y="3065779"/>
            <a:ext cx="3386693" cy="1242060"/>
          </a:xfrm>
          <a:prstGeom prst="roundRect">
            <a:avLst>
              <a:gd name="adj" fmla="val 8180"/>
            </a:avLst>
          </a:prstGeom>
          <a:solidFill>
            <a:srgbClr val="16212F"/>
          </a:solidFill>
          <a:ln/>
        </p:spPr>
      </p:sp>
      <p:sp>
        <p:nvSpPr>
          <p:cNvPr id="24" name="Shape 22"/>
          <p:cNvSpPr/>
          <p:nvPr/>
        </p:nvSpPr>
        <p:spPr>
          <a:xfrm>
            <a:off x="7992507" y="3065779"/>
            <a:ext cx="3386693" cy="1242060"/>
          </a:xfrm>
          <a:custGeom>
            <a:avLst/>
            <a:gdLst/>
            <a:ahLst/>
            <a:cxnLst/>
            <a:rect l="l" t="t" r="r" b="b"/>
            <a:pathLst>
              <a:path w="3386693" h="1242060">
                <a:moveTo>
                  <a:pt x="0" y="101600"/>
                </a:moveTo>
                <a:lnTo>
                  <a:pt x="0" y="101600"/>
                </a:lnTo>
                <a:arcTo hR="101600" wR="101600" stAng="10800000" swAng="5400000"/>
                <a:lnTo>
                  <a:pt x="3285093" y="0"/>
                </a:lnTo>
                <a:arcTo hR="101600" wR="101600" stAng="16200000" swAng="5400000"/>
                <a:lnTo>
                  <a:pt x="3386693" y="101600"/>
                </a:lnTo>
                <a:arcTo hR="76200" wR="101600" stAng="0" swAng="-5400000"/>
                <a:lnTo>
                  <a:pt x="101600" y="25400"/>
                </a:lnTo>
                <a:arcTo hR="76200" wR="101600" stAng="16200000" swAng="-5400000"/>
                <a:close/>
              </a:path>
            </a:pathLst>
          </a:custGeom>
          <a:solidFill>
            <a:srgbClr val="F28C38"/>
          </a:solidFill>
          <a:ln/>
        </p:spPr>
      </p:sp>
      <p:sp>
        <p:nvSpPr>
          <p:cNvPr id="25" name="Text 23"/>
          <p:cNvSpPr/>
          <p:nvPr/>
        </p:nvSpPr>
        <p:spPr>
          <a:xfrm>
            <a:off x="8246507" y="3319779"/>
            <a:ext cx="296505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8C38"/>
                </a:solidFill>
                <a:latin typeface="IBM Plex Sans" pitchFamily="34" charset="0"/>
                <a:ea typeface="IBM Plex Sans" pitchFamily="34" charset="-122"/>
                <a:cs typeface="IBM Plex Sans" pitchFamily="34" charset="-120"/>
              </a:rPr>
              <a:t>Difícil de mantener</a:t>
            </a:r>
            <a:endParaRPr lang="en-US" sz="1600" dirty="0"/>
          </a:p>
        </p:txBody>
      </p:sp>
      <p:sp>
        <p:nvSpPr>
          <p:cNvPr id="26" name="Text 24"/>
          <p:cNvSpPr/>
          <p:nvPr/>
        </p:nvSpPr>
        <p:spPr>
          <a:xfrm>
            <a:off x="8246507" y="3652521"/>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Reparaciones, compactaciones, ajustes de Java: hace falta gente experta.</a:t>
            </a:r>
            <a:endParaRPr lang="en-US" sz="1200" dirty="0"/>
          </a:p>
        </p:txBody>
      </p:sp>
      <p:sp>
        <p:nvSpPr>
          <p:cNvPr id="27" name="Text 25"/>
          <p:cNvSpPr/>
          <p:nvPr/>
        </p:nvSpPr>
        <p:spPr>
          <a:xfrm>
            <a:off x="812800" y="6238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12</a:t>
            </a:r>
            <a:endParaRPr lang="en-US" sz="1200" dirty="0"/>
          </a:p>
        </p:txBody>
      </p:sp>
      <p:sp>
        <p:nvSpPr>
          <p:cNvPr id="28" name="Text 26"/>
          <p:cNvSpPr/>
          <p:nvPr/>
        </p:nvSpPr>
        <p:spPr>
          <a:xfrm>
            <a:off x="812800" y="304800"/>
            <a:ext cx="424180" cy="325120"/>
          </a:xfrm>
          <a:custGeom>
            <a:avLst/>
            <a:gdLst/>
            <a:ahLst/>
            <a:cxnLst/>
            <a:rect l="l" t="t" r="r" b="b"/>
            <a:pathLst>
              <a:path w="424180" h="325120">
                <a:moveTo>
                  <a:pt x="162560" y="0"/>
                </a:moveTo>
                <a:lnTo>
                  <a:pt x="261620" y="0"/>
                </a:lnTo>
                <a:arcTo hR="162560" wR="162560" stAng="16200000" swAng="5400000"/>
                <a:lnTo>
                  <a:pt x="424180" y="162560"/>
                </a:lnTo>
                <a:arcTo hR="162560" wR="162560" stAng="0" swAng="5400000"/>
                <a:lnTo>
                  <a:pt x="162560" y="325120"/>
                </a:lnTo>
                <a:arcTo hR="162560" wR="162560" stAng="5400000" swAng="5400000"/>
                <a:lnTo>
                  <a:pt x="0" y="162560"/>
                </a:lnTo>
                <a:arcTo hR="162560" wR="162560" stAng="10800000" swAng="5400000"/>
                <a:close/>
              </a:path>
            </a:pathLst>
          </a:custGeom>
          <a:solidFill>
            <a:srgbClr val="F4F1EA"/>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10</a:t>
            </a:r>
            <a:endParaRPr lang="en-US" sz="1400" dirty="0"/>
          </a:p>
        </p:txBody>
      </p:sp>
      <p:sp>
        <p:nvSpPr>
          <p:cNvPr id="29" name="Text 27"/>
          <p:cNvSpPr/>
          <p:nvPr/>
        </p:nvSpPr>
        <p:spPr>
          <a:xfrm>
            <a:off x="1351280" y="360679"/>
            <a:ext cx="237763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7C4D1"/>
                </a:solidFill>
                <a:latin typeface="IBM Plex Sans" pitchFamily="34" charset="0"/>
                <a:ea typeface="IBM Plex Sans" pitchFamily="34" charset="-122"/>
                <a:cs typeface="IBM Plex Sans" pitchFamily="34" charset="-120"/>
              </a:rPr>
              <a:t>DESVENTAJAS </a:t>
            </a:r>
            <a:r>
              <a:rPr lang="en-US" sz="1200" b="1" spc="150" kern="0" dirty="0">
                <a:solidFill>
                  <a:srgbClr val="8796A6"/>
                </a:solidFill>
                <a:latin typeface="IBM Plex Sans" pitchFamily="34" charset="0"/>
                <a:ea typeface="IBM Plex Sans" pitchFamily="34" charset="-122"/>
                <a:cs typeface="IBM Plex Sans" pitchFamily="34" charset="-120"/>
              </a:rPr>
              <a:t>· ASIER</a:t>
            </a:r>
            <a:endParaRPr lang="en-US" sz="1200" dirty="0"/>
          </a:p>
        </p:txBody>
      </p:sp>
      <p:sp>
        <p:nvSpPr>
          <p:cNvPr id="30" name="Shape 28"/>
          <p:cNvSpPr/>
          <p:nvPr/>
        </p:nvSpPr>
        <p:spPr>
          <a:xfrm>
            <a:off x="0" y="0"/>
            <a:ext cx="870585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812800" y="1619250"/>
            <a:ext cx="10566400" cy="1905000"/>
          </a:xfrm>
          <a:prstGeom prst="rect">
            <a:avLst/>
          </a:prstGeom>
        </p:spPr>
      </p:pic>
      <p:sp>
        <p:nvSpPr>
          <p:cNvPr id="3"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Quién lo usa</a:t>
            </a:r>
            <a:endParaRPr lang="en-US" sz="3600" dirty="0"/>
          </a:p>
        </p:txBody>
      </p:sp>
      <p:sp>
        <p:nvSpPr>
          <p:cNvPr id="4" name="Shape 1"/>
          <p:cNvSpPr/>
          <p:nvPr/>
        </p:nvSpPr>
        <p:spPr>
          <a:xfrm>
            <a:off x="812800" y="3830321"/>
            <a:ext cx="10566400" cy="1046480"/>
          </a:xfrm>
          <a:prstGeom prst="roundRect">
            <a:avLst>
              <a:gd name="adj" fmla="val 9709"/>
            </a:avLst>
          </a:prstGeom>
          <a:solidFill>
            <a:srgbClr val="16212F"/>
          </a:solidFill>
          <a:ln/>
        </p:spPr>
      </p:sp>
      <p:sp>
        <p:nvSpPr>
          <p:cNvPr id="5" name="Text 2"/>
          <p:cNvSpPr/>
          <p:nvPr/>
        </p:nvSpPr>
        <p:spPr>
          <a:xfrm>
            <a:off x="1066800" y="4058921"/>
            <a:ext cx="10360152"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4F1EA"/>
                </a:solidFill>
                <a:latin typeface="IBM Plex Sans" pitchFamily="34" charset="0"/>
                <a:ea typeface="IBM Plex Sans" pitchFamily="34" charset="-122"/>
                <a:cs typeface="IBM Plex Sans" pitchFamily="34" charset="-120"/>
              </a:rPr>
              <a:t>¿Por qué no un SQL?</a:t>
            </a:r>
            <a:r>
              <a:rPr lang="en-US" sz="1600" dirty="0">
                <a:solidFill>
                  <a:srgbClr val="F4F1EA"/>
                </a:solidFill>
                <a:latin typeface="IBM Plex Sans" pitchFamily="34" charset="0"/>
                <a:ea typeface="IBM Plex Sans" pitchFamily="34" charset="-122"/>
                <a:cs typeface="IBM Plex Sans" pitchFamily="34" charset="-120"/>
              </a:rPr>
              <a:t> Datos enormes, escrituras sin parar y cero caídas: un solo servidor relacional no llega.</a:t>
            </a:r>
            <a:endParaRPr lang="en-US" sz="1600" dirty="0"/>
          </a:p>
        </p:txBody>
      </p:sp>
      <p:sp>
        <p:nvSpPr>
          <p:cNvPr id="6" name="Text 3"/>
          <p:cNvSpPr/>
          <p:nvPr/>
        </p:nvSpPr>
        <p:spPr>
          <a:xfrm>
            <a:off x="1066800" y="4434842"/>
            <a:ext cx="103601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También: Instagram, eBay, Reddit, CERN, Hulu, The Weather Channel… y más de 1.500 empresas.</a:t>
            </a:r>
            <a:endParaRPr lang="en-US" sz="1200" dirty="0"/>
          </a:p>
        </p:txBody>
      </p:sp>
      <p:sp>
        <p:nvSpPr>
          <p:cNvPr id="7" name="Text 4"/>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13 · Fuentes: cassandra.apache.org · IT Brief (2021) · DataStax</a:t>
            </a:r>
            <a:endParaRPr lang="en-US" sz="1200" dirty="0"/>
          </a:p>
        </p:txBody>
      </p:sp>
      <p:sp>
        <p:nvSpPr>
          <p:cNvPr id="8" name="Text 5"/>
          <p:cNvSpPr/>
          <p:nvPr/>
        </p:nvSpPr>
        <p:spPr>
          <a:xfrm>
            <a:off x="812800" y="304800"/>
            <a:ext cx="389334" cy="325120"/>
          </a:xfrm>
          <a:custGeom>
            <a:avLst/>
            <a:gdLst/>
            <a:ahLst/>
            <a:cxnLst/>
            <a:rect l="l" t="t" r="r" b="b"/>
            <a:pathLst>
              <a:path w="389334" h="325120">
                <a:moveTo>
                  <a:pt x="162560" y="0"/>
                </a:moveTo>
                <a:lnTo>
                  <a:pt x="226774" y="0"/>
                </a:lnTo>
                <a:arcTo hR="162560" wR="162560" stAng="16200000" swAng="5400000"/>
                <a:lnTo>
                  <a:pt x="389334" y="162560"/>
                </a:lnTo>
                <a:arcTo hR="162560" wR="162560" stAng="0" swAng="5400000"/>
                <a:lnTo>
                  <a:pt x="162560" y="325120"/>
                </a:lnTo>
                <a:arcTo hR="162560" wR="162560" stAng="5400000" swAng="5400000"/>
                <a:lnTo>
                  <a:pt x="0" y="162560"/>
                </a:lnTo>
                <a:arcTo hR="162560" wR="162560" stAng="10800000" swAng="5400000"/>
                <a:close/>
              </a:path>
            </a:pathLst>
          </a:custGeom>
          <a:solidFill>
            <a:srgbClr val="F4F1EA"/>
          </a:solidFill>
          <a:ln/>
        </p:spPr>
        <p:txBody>
          <a:bodyPr wrap="none" lIns="0" tIns="0" rIns="0" bIns="0" rtlCol="0" anchor="ctr">
            <a:normAutofit/>
          </a:bodyPr>
          <a:lstStyle/>
          <a:p>
            <a:pPr algn="ctr" indent="0" marL="0">
              <a:lnSpc>
                <a:spcPts val="1960"/>
              </a:lnSpc>
              <a:buNone/>
            </a:pPr>
            <a:r>
              <a:rPr lang="en-US" sz="1400" b="1" dirty="0">
                <a:solidFill>
                  <a:srgbClr val="0E1520"/>
                </a:solidFill>
                <a:latin typeface="Space Grotesk" pitchFamily="34" charset="0"/>
                <a:ea typeface="Space Grotesk" pitchFamily="34" charset="-122"/>
                <a:cs typeface="Space Grotesk" pitchFamily="34" charset="-120"/>
              </a:rPr>
              <a:t>11</a:t>
            </a:r>
            <a:endParaRPr lang="en-US" sz="1400" dirty="0"/>
          </a:p>
        </p:txBody>
      </p:sp>
      <p:sp>
        <p:nvSpPr>
          <p:cNvPr id="9" name="Text 6"/>
          <p:cNvSpPr/>
          <p:nvPr/>
        </p:nvSpPr>
        <p:spPr>
          <a:xfrm>
            <a:off x="1316434" y="360679"/>
            <a:ext cx="239106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7C4D1"/>
                </a:solidFill>
                <a:latin typeface="IBM Plex Sans" pitchFamily="34" charset="0"/>
                <a:ea typeface="IBM Plex Sans" pitchFamily="34" charset="-122"/>
                <a:cs typeface="IBM Plex Sans" pitchFamily="34" charset="-120"/>
              </a:rPr>
              <a:t>QUIÉN LO USA </a:t>
            </a:r>
            <a:r>
              <a:rPr lang="en-US" sz="1200" b="1" spc="150" kern="0" dirty="0">
                <a:solidFill>
                  <a:srgbClr val="8796A6"/>
                </a:solidFill>
                <a:latin typeface="IBM Plex Sans" pitchFamily="34" charset="0"/>
                <a:ea typeface="IBM Plex Sans" pitchFamily="34" charset="-122"/>
                <a:cs typeface="IBM Plex Sans" pitchFamily="34" charset="-120"/>
              </a:rPr>
              <a:t>· ASIER</a:t>
            </a:r>
            <a:endParaRPr lang="en-US" sz="1200" dirty="0"/>
          </a:p>
        </p:txBody>
      </p:sp>
      <p:sp>
        <p:nvSpPr>
          <p:cNvPr id="10" name="Shape 7"/>
          <p:cNvSpPr/>
          <p:nvPr/>
        </p:nvSpPr>
        <p:spPr>
          <a:xfrm>
            <a:off x="0" y="0"/>
            <a:ext cx="958215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8C3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4202E"/>
                </a:solidFill>
                <a:latin typeface="IBM Plex Sans" pitchFamily="34" charset="0"/>
                <a:ea typeface="IBM Plex Sans" pitchFamily="34" charset="-122"/>
                <a:cs typeface="IBM Plex Sans" pitchFamily="34" charset="-120"/>
              </a:rPr>
              <a:t>CASO REAL CON GIRO FINAL</a:t>
            </a:r>
            <a:endParaRPr lang="en-US" sz="1400" dirty="0"/>
          </a:p>
        </p:txBody>
      </p:sp>
      <p:sp>
        <p:nvSpPr>
          <p:cNvPr id="3" name="Text 1"/>
          <p:cNvSpPr/>
          <p:nvPr>
            <p:ph type="title"/>
          </p:nvPr>
        </p:nvSpPr>
        <p:spPr>
          <a:xfrm>
            <a:off x="812800" y="11379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E"/>
                </a:solidFill>
                <a:latin typeface="Space Grotesk" pitchFamily="34" charset="0"/>
                <a:ea typeface="Space Grotesk" pitchFamily="34" charset="-122"/>
                <a:cs typeface="Space Grotesk" pitchFamily="34" charset="-120"/>
              </a:rPr>
              <a:t>Discord y sus billones de mensajes</a:t>
            </a:r>
            <a:endParaRPr lang="en-US" sz="3600" dirty="0"/>
          </a:p>
        </p:txBody>
      </p:sp>
      <p:sp>
        <p:nvSpPr>
          <p:cNvPr id="4" name="Shape 2"/>
          <p:cNvSpPr/>
          <p:nvPr/>
        </p:nvSpPr>
        <p:spPr>
          <a:xfrm>
            <a:off x="812800" y="1945642"/>
            <a:ext cx="2527300" cy="1833880"/>
          </a:xfrm>
          <a:prstGeom prst="roundRect">
            <a:avLst>
              <a:gd name="adj" fmla="val 5540"/>
            </a:avLst>
          </a:prstGeom>
          <a:solidFill>
            <a:srgbClr val="FBE3CC"/>
          </a:solidFill>
          <a:ln/>
        </p:spPr>
      </p:sp>
      <p:sp>
        <p:nvSpPr>
          <p:cNvPr id="5" name="Text 3"/>
          <p:cNvSpPr/>
          <p:nvPr/>
        </p:nvSpPr>
        <p:spPr>
          <a:xfrm>
            <a:off x="1016000" y="2148842"/>
            <a:ext cx="218452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02E"/>
                </a:solidFill>
                <a:latin typeface="Space Grotesk" pitchFamily="34" charset="0"/>
                <a:ea typeface="Space Grotesk" pitchFamily="34" charset="-122"/>
                <a:cs typeface="Space Grotesk" pitchFamily="34" charset="-120"/>
              </a:rPr>
              <a:t>2015</a:t>
            </a:r>
            <a:endParaRPr lang="en-US" sz="2200" dirty="0"/>
          </a:p>
        </p:txBody>
      </p:sp>
      <p:sp>
        <p:nvSpPr>
          <p:cNvPr id="6" name="Text 4"/>
          <p:cNvSpPr/>
          <p:nvPr/>
        </p:nvSpPr>
        <p:spPr>
          <a:xfrm>
            <a:off x="1016000" y="2616200"/>
            <a:ext cx="21845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MongoDB</a:t>
            </a:r>
            <a:endParaRPr lang="en-US" sz="1600" dirty="0"/>
          </a:p>
        </p:txBody>
      </p:sp>
      <p:sp>
        <p:nvSpPr>
          <p:cNvPr id="7" name="Text 5"/>
          <p:cNvSpPr/>
          <p:nvPr/>
        </p:nvSpPr>
        <p:spPr>
          <a:xfrm>
            <a:off x="1016000" y="2936242"/>
            <a:ext cx="21845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2A1C"/>
                </a:solidFill>
                <a:latin typeface="IBM Plex Sans" pitchFamily="34" charset="0"/>
                <a:ea typeface="IBM Plex Sans" pitchFamily="34" charset="-122"/>
                <a:cs typeface="IBM Plex Sans" pitchFamily="34" charset="-120"/>
              </a:rPr>
              <a:t>Con 100 millones de mensajes, los datos ya no cabían en la RAM.</a:t>
            </a:r>
            <a:endParaRPr lang="en-US" sz="1200" dirty="0"/>
          </a:p>
        </p:txBody>
      </p:sp>
      <p:sp>
        <p:nvSpPr>
          <p:cNvPr id="8" name="Shape 6"/>
          <p:cNvSpPr/>
          <p:nvPr/>
        </p:nvSpPr>
        <p:spPr>
          <a:xfrm>
            <a:off x="3492500" y="1945642"/>
            <a:ext cx="2527300" cy="1833880"/>
          </a:xfrm>
          <a:prstGeom prst="roundRect">
            <a:avLst>
              <a:gd name="adj" fmla="val 5540"/>
            </a:avLst>
          </a:prstGeom>
          <a:solidFill>
            <a:srgbClr val="14202E"/>
          </a:solidFill>
          <a:ln/>
        </p:spPr>
      </p:sp>
      <p:sp>
        <p:nvSpPr>
          <p:cNvPr id="9" name="Text 7"/>
          <p:cNvSpPr/>
          <p:nvPr/>
        </p:nvSpPr>
        <p:spPr>
          <a:xfrm>
            <a:off x="3695700" y="2148842"/>
            <a:ext cx="218452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FC1C9"/>
                </a:solidFill>
                <a:latin typeface="Space Grotesk" pitchFamily="34" charset="0"/>
                <a:ea typeface="Space Grotesk" pitchFamily="34" charset="-122"/>
                <a:cs typeface="Space Grotesk" pitchFamily="34" charset="-120"/>
              </a:rPr>
              <a:t>2017</a:t>
            </a:r>
            <a:endParaRPr lang="en-US" sz="2200" dirty="0"/>
          </a:p>
        </p:txBody>
      </p:sp>
      <p:sp>
        <p:nvSpPr>
          <p:cNvPr id="10" name="Text 8"/>
          <p:cNvSpPr/>
          <p:nvPr/>
        </p:nvSpPr>
        <p:spPr>
          <a:xfrm>
            <a:off x="3695700" y="2616200"/>
            <a:ext cx="21845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Cassandra</a:t>
            </a:r>
            <a:endParaRPr lang="en-US" sz="1600" dirty="0"/>
          </a:p>
        </p:txBody>
      </p:sp>
      <p:sp>
        <p:nvSpPr>
          <p:cNvPr id="11" name="Text 9"/>
          <p:cNvSpPr/>
          <p:nvPr/>
        </p:nvSpPr>
        <p:spPr>
          <a:xfrm>
            <a:off x="3695700" y="2936242"/>
            <a:ext cx="21845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12 nodos y miles de millones de mensajes. Escala sin problema.</a:t>
            </a:r>
            <a:endParaRPr lang="en-US" sz="1200" dirty="0"/>
          </a:p>
        </p:txBody>
      </p:sp>
      <p:sp>
        <p:nvSpPr>
          <p:cNvPr id="12" name="Shape 10"/>
          <p:cNvSpPr/>
          <p:nvPr/>
        </p:nvSpPr>
        <p:spPr>
          <a:xfrm>
            <a:off x="6172200" y="1945642"/>
            <a:ext cx="2527300" cy="1833880"/>
          </a:xfrm>
          <a:prstGeom prst="roundRect">
            <a:avLst>
              <a:gd name="adj" fmla="val 5540"/>
            </a:avLst>
          </a:prstGeom>
          <a:solidFill>
            <a:srgbClr val="14202E"/>
          </a:solidFill>
          <a:ln/>
        </p:spPr>
      </p:sp>
      <p:sp>
        <p:nvSpPr>
          <p:cNvPr id="13" name="Text 11"/>
          <p:cNvSpPr/>
          <p:nvPr/>
        </p:nvSpPr>
        <p:spPr>
          <a:xfrm>
            <a:off x="6375400" y="2148842"/>
            <a:ext cx="218452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FC1C9"/>
                </a:solidFill>
                <a:latin typeface="Space Grotesk" pitchFamily="34" charset="0"/>
                <a:ea typeface="Space Grotesk" pitchFamily="34" charset="-122"/>
                <a:cs typeface="Space Grotesk" pitchFamily="34" charset="-120"/>
              </a:rPr>
              <a:t>2022</a:t>
            </a:r>
            <a:endParaRPr lang="en-US" sz="2200" dirty="0"/>
          </a:p>
        </p:txBody>
      </p:sp>
      <p:sp>
        <p:nvSpPr>
          <p:cNvPr id="14" name="Text 12"/>
          <p:cNvSpPr/>
          <p:nvPr/>
        </p:nvSpPr>
        <p:spPr>
          <a:xfrm>
            <a:off x="6375400" y="2616200"/>
            <a:ext cx="21845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177 nodos</a:t>
            </a:r>
            <a:endParaRPr lang="en-US" sz="1600" dirty="0"/>
          </a:p>
        </p:txBody>
      </p:sp>
      <p:sp>
        <p:nvSpPr>
          <p:cNvPr id="15" name="Text 13"/>
          <p:cNvSpPr/>
          <p:nvPr/>
        </p:nvSpPr>
        <p:spPr>
          <a:xfrm>
            <a:off x="6375400" y="2936242"/>
            <a:ext cx="21845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4D1"/>
                </a:solidFill>
                <a:latin typeface="IBM Plex Sans" pitchFamily="34" charset="0"/>
                <a:ea typeface="IBM Plex Sans" pitchFamily="34" charset="-122"/>
                <a:cs typeface="IBM Plex Sans" pitchFamily="34" charset="-120"/>
              </a:rPr>
              <a:t>Billones de mensajes… y pausas de Java y mantenimiento caro.</a:t>
            </a:r>
            <a:endParaRPr lang="en-US" sz="1200" dirty="0"/>
          </a:p>
        </p:txBody>
      </p:sp>
      <p:sp>
        <p:nvSpPr>
          <p:cNvPr id="16" name="Shape 14"/>
          <p:cNvSpPr/>
          <p:nvPr/>
        </p:nvSpPr>
        <p:spPr>
          <a:xfrm>
            <a:off x="8851900" y="1945642"/>
            <a:ext cx="2527300" cy="1833880"/>
          </a:xfrm>
          <a:prstGeom prst="roundRect">
            <a:avLst>
              <a:gd name="adj" fmla="val 5540"/>
            </a:avLst>
          </a:prstGeom>
          <a:solidFill>
            <a:srgbClr val="FBE3CC"/>
          </a:solidFill>
          <a:ln/>
        </p:spPr>
      </p:sp>
      <p:sp>
        <p:nvSpPr>
          <p:cNvPr id="17" name="Text 15"/>
          <p:cNvSpPr/>
          <p:nvPr/>
        </p:nvSpPr>
        <p:spPr>
          <a:xfrm>
            <a:off x="9055100" y="2148842"/>
            <a:ext cx="218452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02E"/>
                </a:solidFill>
                <a:latin typeface="Space Grotesk" pitchFamily="34" charset="0"/>
                <a:ea typeface="Space Grotesk" pitchFamily="34" charset="-122"/>
                <a:cs typeface="Space Grotesk" pitchFamily="34" charset="-120"/>
              </a:rPr>
              <a:t>Hoy</a:t>
            </a:r>
            <a:endParaRPr lang="en-US" sz="2200" dirty="0"/>
          </a:p>
        </p:txBody>
      </p:sp>
      <p:sp>
        <p:nvSpPr>
          <p:cNvPr id="18" name="Text 16"/>
          <p:cNvSpPr/>
          <p:nvPr/>
        </p:nvSpPr>
        <p:spPr>
          <a:xfrm>
            <a:off x="9055100" y="2616200"/>
            <a:ext cx="21845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ScyllaDB</a:t>
            </a:r>
            <a:endParaRPr lang="en-US" sz="1600" dirty="0"/>
          </a:p>
        </p:txBody>
      </p:sp>
      <p:sp>
        <p:nvSpPr>
          <p:cNvPr id="19" name="Text 17"/>
          <p:cNvSpPr/>
          <p:nvPr/>
        </p:nvSpPr>
        <p:spPr>
          <a:xfrm>
            <a:off x="9055100" y="2936242"/>
            <a:ext cx="21845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2A1C"/>
                </a:solidFill>
                <a:latin typeface="IBM Plex Sans" pitchFamily="34" charset="0"/>
                <a:ea typeface="IBM Plex Sans" pitchFamily="34" charset="-122"/>
                <a:cs typeface="IBM Plex Sans" pitchFamily="34" charset="-120"/>
              </a:rPr>
              <a:t>Compatible con Cassandra (mismo CQL), escrita en C++. 72 nodos.</a:t>
            </a:r>
            <a:endParaRPr lang="en-US" sz="1200" dirty="0"/>
          </a:p>
        </p:txBody>
      </p:sp>
      <p:sp>
        <p:nvSpPr>
          <p:cNvPr id="20" name="Text 18"/>
          <p:cNvSpPr/>
          <p:nvPr/>
        </p:nvSpPr>
        <p:spPr>
          <a:xfrm>
            <a:off x="812800" y="4084321"/>
            <a:ext cx="10883392"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4202E"/>
                </a:solidFill>
                <a:latin typeface="IBM Plex Sans" pitchFamily="34" charset="0"/>
                <a:ea typeface="IBM Plex Sans" pitchFamily="34" charset="-122"/>
                <a:cs typeface="IBM Plex Sans" pitchFamily="34" charset="-120"/>
              </a:rPr>
              <a:t>Moraleja: el modelo de Cassandra escala tan bien que su sustituto habla el mismo idioma.</a:t>
            </a:r>
            <a:endParaRPr lang="en-US" sz="1600" dirty="0"/>
          </a:p>
        </p:txBody>
      </p:sp>
      <p:sp>
        <p:nvSpPr>
          <p:cNvPr id="21" name="Text 19"/>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2A1C"/>
                </a:solidFill>
                <a:latin typeface="IBM Plex Sans" pitchFamily="34" charset="0"/>
                <a:ea typeface="IBM Plex Sans" pitchFamily="34" charset="-122"/>
                <a:cs typeface="IBM Plex Sans" pitchFamily="34" charset="-120"/>
              </a:rPr>
              <a:t>14 · Fuente: blog de ingeniería de Discord, “How Discord Stores Trillions of Messages” (2023)</a:t>
            </a:r>
            <a:endParaRPr lang="en-US" sz="1200" dirty="0"/>
          </a:p>
        </p:txBody>
      </p:sp>
      <p:sp>
        <p:nvSpPr>
          <p:cNvPr id="22" name="Text 20"/>
          <p:cNvSpPr/>
          <p:nvPr/>
        </p:nvSpPr>
        <p:spPr>
          <a:xfrm>
            <a:off x="812800" y="304800"/>
            <a:ext cx="414655" cy="325120"/>
          </a:xfrm>
          <a:custGeom>
            <a:avLst/>
            <a:gdLst/>
            <a:ahLst/>
            <a:cxnLst/>
            <a:rect l="l" t="t" r="r" b="b"/>
            <a:pathLst>
              <a:path w="414655" h="325120">
                <a:moveTo>
                  <a:pt x="162560" y="0"/>
                </a:moveTo>
                <a:lnTo>
                  <a:pt x="252095" y="0"/>
                </a:lnTo>
                <a:arcTo hR="162560" wR="162560" stAng="16200000" swAng="5400000"/>
                <a:lnTo>
                  <a:pt x="414655" y="162560"/>
                </a:lnTo>
                <a:arcTo hR="162560" wR="162560" stAng="0" swAng="5400000"/>
                <a:lnTo>
                  <a:pt x="162560" y="325120"/>
                </a:lnTo>
                <a:arcTo hR="162560" wR="162560" stAng="5400000" swAng="5400000"/>
                <a:lnTo>
                  <a:pt x="0" y="162560"/>
                </a:lnTo>
                <a:arcTo hR="162560" wR="162560" stAng="10800000" swAng="5400000"/>
                <a:close/>
              </a:path>
            </a:pathLst>
          </a:custGeom>
          <a:solidFill>
            <a:srgbClr val="14202E"/>
          </a:solidFill>
          <a:ln/>
        </p:spPr>
        <p:txBody>
          <a:bodyPr wrap="none" lIns="0" tIns="0" rIns="0" bIns="0" rtlCol="0" anchor="ctr">
            <a:normAutofit/>
          </a:bodyPr>
          <a:lstStyle/>
          <a:p>
            <a:pPr algn="ctr" indent="0" marL="0">
              <a:lnSpc>
                <a:spcPts val="1960"/>
              </a:lnSpc>
              <a:buNone/>
            </a:pPr>
            <a:r>
              <a:rPr lang="en-US" sz="1400" b="1" dirty="0">
                <a:solidFill>
                  <a:srgbClr val="F4F1EA"/>
                </a:solidFill>
                <a:latin typeface="Space Grotesk" pitchFamily="34" charset="0"/>
                <a:ea typeface="Space Grotesk" pitchFamily="34" charset="-122"/>
                <a:cs typeface="Space Grotesk" pitchFamily="34" charset="-120"/>
              </a:rPr>
              <a:t>12</a:t>
            </a:r>
            <a:endParaRPr lang="en-US" sz="1400" dirty="0"/>
          </a:p>
        </p:txBody>
      </p:sp>
      <p:sp>
        <p:nvSpPr>
          <p:cNvPr id="23" name="Text 21"/>
          <p:cNvSpPr/>
          <p:nvPr/>
        </p:nvSpPr>
        <p:spPr>
          <a:xfrm>
            <a:off x="1341755" y="360679"/>
            <a:ext cx="248278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02E"/>
                </a:solidFill>
                <a:latin typeface="IBM Plex Sans" pitchFamily="34" charset="0"/>
                <a:ea typeface="IBM Plex Sans" pitchFamily="34" charset="-122"/>
                <a:cs typeface="IBM Plex Sans" pitchFamily="34" charset="-120"/>
              </a:rPr>
              <a:t>CASO DISCORD </a:t>
            </a:r>
            <a:r>
              <a:rPr lang="en-US" sz="1200" b="1" spc="150" kern="0" dirty="0">
                <a:solidFill>
                  <a:srgbClr val="3A2A1C"/>
                </a:solidFill>
                <a:latin typeface="IBM Plex Sans" pitchFamily="34" charset="0"/>
                <a:ea typeface="IBM Plex Sans" pitchFamily="34" charset="-122"/>
                <a:cs typeface="IBM Plex Sans" pitchFamily="34" charset="-120"/>
              </a:rPr>
              <a:t>· ASIER</a:t>
            </a:r>
            <a:endParaRPr lang="en-US" sz="1200" dirty="0"/>
          </a:p>
        </p:txBody>
      </p:sp>
      <p:sp>
        <p:nvSpPr>
          <p:cNvPr id="24" name="Shape 22"/>
          <p:cNvSpPr/>
          <p:nvPr/>
        </p:nvSpPr>
        <p:spPr>
          <a:xfrm>
            <a:off x="0" y="0"/>
            <a:ext cx="1045210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E"/>
                </a:solidFill>
                <a:latin typeface="Space Grotesk" pitchFamily="34" charset="0"/>
                <a:ea typeface="Space Grotesk" pitchFamily="34" charset="-122"/>
                <a:cs typeface="Space Grotesk" pitchFamily="34" charset="-120"/>
              </a:rPr>
              <a:t>¿Cassandra o SQL Server?</a:t>
            </a:r>
            <a:endParaRPr lang="en-US" sz="3600" dirty="0"/>
          </a:p>
        </p:txBody>
      </p:sp>
      <p:sp>
        <p:nvSpPr>
          <p:cNvPr id="3" name="Shape 1"/>
          <p:cNvSpPr/>
          <p:nvPr/>
        </p:nvSpPr>
        <p:spPr>
          <a:xfrm>
            <a:off x="812800" y="1569721"/>
            <a:ext cx="5171440" cy="2324100"/>
          </a:xfrm>
          <a:prstGeom prst="roundRect">
            <a:avLst>
              <a:gd name="adj" fmla="val 4372"/>
            </a:avLst>
          </a:prstGeom>
          <a:solidFill>
            <a:srgbClr val="14202E"/>
          </a:solidFill>
          <a:ln/>
        </p:spPr>
      </p:sp>
      <p:sp>
        <p:nvSpPr>
          <p:cNvPr id="4" name="Text 2"/>
          <p:cNvSpPr/>
          <p:nvPr/>
        </p:nvSpPr>
        <p:spPr>
          <a:xfrm>
            <a:off x="1066800" y="1823721"/>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FC1C9"/>
                </a:solidFill>
                <a:latin typeface="Space Grotesk" pitchFamily="34" charset="0"/>
                <a:ea typeface="Space Grotesk" pitchFamily="34" charset="-122"/>
                <a:cs typeface="Space Grotesk" pitchFamily="34" charset="-120"/>
              </a:rPr>
              <a:t>Cassandra</a:t>
            </a:r>
            <a:endParaRPr lang="en-US" sz="2200" dirty="0"/>
          </a:p>
        </p:txBody>
      </p:sp>
      <p:sp>
        <p:nvSpPr>
          <p:cNvPr id="5" name="Text 3"/>
          <p:cNvSpPr/>
          <p:nvPr/>
        </p:nvSpPr>
        <p:spPr>
          <a:xfrm>
            <a:off x="1145032" y="2286000"/>
            <a:ext cx="4717491"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D6E4EA"/>
                </a:solidFill>
                <a:latin typeface="IBM Plex Sans" pitchFamily="34" charset="0"/>
                <a:ea typeface="IBM Plex Sans" pitchFamily="34" charset="-122"/>
                <a:cs typeface="IBM Plex Sans" pitchFamily="34" charset="-120"/>
              </a:rPr>
              <a:t>Sensores IoT que mandan datos cada segundo</a:t>
            </a:r>
            <a:endParaRPr lang="en-US" sz="1400" dirty="0"/>
          </a:p>
          <a:p>
            <a:pPr algn="l" marL="175768" indent="-175768">
              <a:lnSpc>
                <a:spcPts val="2100"/>
              </a:lnSpc>
              <a:buSzPct val="100000"/>
              <a:buChar char="•"/>
            </a:pPr>
            <a:r>
              <a:rPr lang="en-US" sz="1400" dirty="0">
                <a:solidFill>
                  <a:srgbClr val="D6E4EA"/>
                </a:solidFill>
                <a:latin typeface="IBM Plex Sans" pitchFamily="34" charset="0"/>
                <a:ea typeface="IBM Plex Sans" pitchFamily="34" charset="-122"/>
                <a:cs typeface="IBM Plex Sans" pitchFamily="34" charset="-120"/>
              </a:rPr>
              <a:t>Chat y mensajería: historial por conversación</a:t>
            </a:r>
            <a:endParaRPr lang="en-US" sz="1400" dirty="0"/>
          </a:p>
          <a:p>
            <a:pPr algn="l" marL="175768" indent="-175768">
              <a:lnSpc>
                <a:spcPts val="2100"/>
              </a:lnSpc>
              <a:buSzPct val="100000"/>
              <a:buChar char="•"/>
            </a:pPr>
            <a:r>
              <a:rPr lang="en-US" sz="1400" dirty="0">
                <a:solidFill>
                  <a:srgbClr val="D6E4EA"/>
                </a:solidFill>
                <a:latin typeface="IBM Plex Sans" pitchFamily="34" charset="0"/>
                <a:ea typeface="IBM Plex Sans" pitchFamily="34" charset="-122"/>
                <a:cs typeface="IBM Plex Sans" pitchFamily="34" charset="-120"/>
              </a:rPr>
              <a:t>“Seguir viendo” de una plataforma de vídeo</a:t>
            </a:r>
            <a:endParaRPr lang="en-US" sz="1400" dirty="0"/>
          </a:p>
          <a:p>
            <a:pPr algn="l" marL="175768" indent="-175768">
              <a:lnSpc>
                <a:spcPts val="2100"/>
              </a:lnSpc>
              <a:buSzPct val="100000"/>
              <a:buChar char="•"/>
            </a:pPr>
            <a:r>
              <a:rPr lang="en-US" sz="1400" dirty="0">
                <a:solidFill>
                  <a:srgbClr val="D6E4EA"/>
                </a:solidFill>
                <a:latin typeface="IBM Plex Sans" pitchFamily="34" charset="0"/>
                <a:ea typeface="IBM Plex Sans" pitchFamily="34" charset="-122"/>
                <a:cs typeface="IBM Plex Sans" pitchFamily="34" charset="-120"/>
              </a:rPr>
              <a:t>Logs y métricas de miles de servidores</a:t>
            </a:r>
            <a:endParaRPr lang="en-US" sz="1400" dirty="0"/>
          </a:p>
          <a:p>
            <a:pPr algn="l" marL="175768" indent="-175768">
              <a:lnSpc>
                <a:spcPts val="2100"/>
              </a:lnSpc>
              <a:buSzPct val="100000"/>
              <a:buChar char="•"/>
            </a:pPr>
            <a:r>
              <a:rPr lang="en-US" sz="1400" dirty="0">
                <a:solidFill>
                  <a:srgbClr val="D6E4EA"/>
                </a:solidFill>
                <a:latin typeface="IBM Plex Sans" pitchFamily="34" charset="0"/>
                <a:ea typeface="IBM Plex Sans" pitchFamily="34" charset="-122"/>
                <a:cs typeface="IBM Plex Sans" pitchFamily="34" charset="-120"/>
              </a:rPr>
              <a:t>Apps globales que no pueden caerse nunca</a:t>
            </a:r>
            <a:endParaRPr lang="en-US" sz="1400" dirty="0"/>
          </a:p>
        </p:txBody>
      </p:sp>
      <p:sp>
        <p:nvSpPr>
          <p:cNvPr id="6" name="Shape 4"/>
          <p:cNvSpPr/>
          <p:nvPr/>
        </p:nvSpPr>
        <p:spPr>
          <a:xfrm>
            <a:off x="6193790" y="1576071"/>
            <a:ext cx="5179060" cy="2311400"/>
          </a:xfrm>
          <a:prstGeom prst="roundRect">
            <a:avLst>
              <a:gd name="adj" fmla="val 4121"/>
            </a:avLst>
          </a:prstGeom>
          <a:solidFill>
            <a:srgbClr val="FFFFFF"/>
          </a:solidFill>
          <a:ln w="12700">
            <a:solidFill>
              <a:srgbClr val="D5CFC2"/>
            </a:solidFill>
            <a:prstDash val="solid"/>
          </a:ln>
        </p:spPr>
      </p:sp>
      <p:sp>
        <p:nvSpPr>
          <p:cNvPr id="7" name="Text 5"/>
          <p:cNvSpPr/>
          <p:nvPr/>
        </p:nvSpPr>
        <p:spPr>
          <a:xfrm>
            <a:off x="6451600" y="1833879"/>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E"/>
                </a:solidFill>
                <a:latin typeface="Space Grotesk" pitchFamily="34" charset="0"/>
                <a:ea typeface="Space Grotesk" pitchFamily="34" charset="-122"/>
                <a:cs typeface="Space Grotesk" pitchFamily="34" charset="-120"/>
              </a:rPr>
              <a:t>SQL Server</a:t>
            </a:r>
            <a:endParaRPr lang="en-US" sz="2200" dirty="0"/>
          </a:p>
        </p:txBody>
      </p:sp>
      <p:sp>
        <p:nvSpPr>
          <p:cNvPr id="8" name="Text 6"/>
          <p:cNvSpPr/>
          <p:nvPr/>
        </p:nvSpPr>
        <p:spPr>
          <a:xfrm>
            <a:off x="6529832" y="2296164"/>
            <a:ext cx="4717491"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563"/>
                </a:solidFill>
                <a:latin typeface="IBM Plex Sans" pitchFamily="34" charset="0"/>
                <a:ea typeface="IBM Plex Sans" pitchFamily="34" charset="-122"/>
                <a:cs typeface="IBM Plex Sans" pitchFamily="34" charset="-120"/>
              </a:rPr>
              <a:t>Banco o contabilidad: cada euro tiene que cuadrar</a:t>
            </a:r>
            <a:endParaRPr lang="en-US" sz="1400" dirty="0"/>
          </a:p>
          <a:p>
            <a:pPr algn="l" marL="175768" indent="-175768">
              <a:lnSpc>
                <a:spcPts val="2100"/>
              </a:lnSpc>
              <a:buSzPct val="100000"/>
              <a:buChar char="•"/>
            </a:pPr>
            <a:r>
              <a:rPr lang="en-US" sz="1400" dirty="0">
                <a:solidFill>
                  <a:srgbClr val="4A5563"/>
                </a:solidFill>
                <a:latin typeface="IBM Plex Sans" pitchFamily="34" charset="0"/>
                <a:ea typeface="IBM Plex Sans" pitchFamily="34" charset="-122"/>
                <a:cs typeface="IBM Plex Sans" pitchFamily="34" charset="-120"/>
              </a:rPr>
              <a:t>Tienda online: pedidos, stock y facturas relacionados</a:t>
            </a:r>
            <a:endParaRPr lang="en-US" sz="1400" dirty="0"/>
          </a:p>
          <a:p>
            <a:pPr algn="l" marL="175768" indent="-175768">
              <a:lnSpc>
                <a:spcPts val="2100"/>
              </a:lnSpc>
              <a:buSzPct val="100000"/>
              <a:buChar char="•"/>
            </a:pPr>
            <a:r>
              <a:rPr lang="en-US" sz="1400" dirty="0">
                <a:solidFill>
                  <a:srgbClr val="4A5563"/>
                </a:solidFill>
                <a:latin typeface="IBM Plex Sans" pitchFamily="34" charset="0"/>
                <a:ea typeface="IBM Plex Sans" pitchFamily="34" charset="-122"/>
                <a:cs typeface="IBM Plex Sans" pitchFamily="34" charset="-120"/>
              </a:rPr>
              <a:t>Secretaría del instituto: alumnos, asignaturas, notas</a:t>
            </a:r>
            <a:endParaRPr lang="en-US" sz="1400" dirty="0"/>
          </a:p>
          <a:p>
            <a:pPr algn="l" marL="175768" indent="-175768">
              <a:lnSpc>
                <a:spcPts val="2100"/>
              </a:lnSpc>
              <a:buSzPct val="100000"/>
              <a:buChar char="•"/>
            </a:pPr>
            <a:r>
              <a:rPr lang="en-US" sz="1400" dirty="0">
                <a:solidFill>
                  <a:srgbClr val="4A5563"/>
                </a:solidFill>
                <a:latin typeface="IBM Plex Sans" pitchFamily="34" charset="0"/>
                <a:ea typeface="IBM Plex Sans" pitchFamily="34" charset="-122"/>
                <a:cs typeface="IBM Plex Sans" pitchFamily="34" charset="-120"/>
              </a:rPr>
              <a:t>Informes con JOINs que cambian cada semana</a:t>
            </a:r>
            <a:endParaRPr lang="en-US" sz="1400" dirty="0"/>
          </a:p>
          <a:p>
            <a:pPr algn="l" marL="175768" indent="-175768">
              <a:lnSpc>
                <a:spcPts val="2100"/>
              </a:lnSpc>
              <a:buSzPct val="100000"/>
              <a:buChar char="•"/>
            </a:pPr>
            <a:r>
              <a:rPr lang="en-US" sz="1400" dirty="0">
                <a:solidFill>
                  <a:srgbClr val="4A5563"/>
                </a:solidFill>
                <a:latin typeface="IBM Plex Sans" pitchFamily="34" charset="0"/>
                <a:ea typeface="IBM Plex Sans" pitchFamily="34" charset="-122"/>
                <a:cs typeface="IBM Plex Sans" pitchFamily="34" charset="-120"/>
              </a:rPr>
              <a:t>Proyectos pequeños: un servidor basta</a:t>
            </a:r>
            <a:endParaRPr lang="en-US" sz="1400" dirty="0"/>
          </a:p>
        </p:txBody>
      </p:sp>
      <p:sp>
        <p:nvSpPr>
          <p:cNvPr id="9" name="Text 7"/>
          <p:cNvSpPr/>
          <p:nvPr/>
        </p:nvSpPr>
        <p:spPr>
          <a:xfrm>
            <a:off x="812800" y="4147821"/>
            <a:ext cx="10883392"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4202E"/>
                </a:solidFill>
                <a:latin typeface="IBM Plex Sans" pitchFamily="34" charset="0"/>
                <a:ea typeface="IBM Plex Sans" pitchFamily="34" charset="-122"/>
                <a:cs typeface="IBM Plex Sans" pitchFamily="34" charset="-120"/>
              </a:rPr>
              <a:t>Muchas empresas usan las dos:</a:t>
            </a:r>
            <a:r>
              <a:rPr lang="en-US" sz="1600" dirty="0">
                <a:solidFill>
                  <a:srgbClr val="14202E"/>
                </a:solidFill>
                <a:latin typeface="IBM Plex Sans" pitchFamily="34" charset="0"/>
                <a:ea typeface="IBM Plex Sans" pitchFamily="34" charset="-122"/>
                <a:cs typeface="IBM Plex Sans" pitchFamily="34" charset="-120"/>
              </a:rPr>
              <a:t> SQL Server para el dinero, Cassandra para el volumen.</a:t>
            </a:r>
            <a:endParaRPr lang="en-US" sz="1600" dirty="0"/>
          </a:p>
        </p:txBody>
      </p:sp>
      <p:sp>
        <p:nvSpPr>
          <p:cNvPr id="10" name="Text 8"/>
          <p:cNvSpPr/>
          <p:nvPr/>
        </p:nvSpPr>
        <p:spPr>
          <a:xfrm>
            <a:off x="812800" y="6238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15</a:t>
            </a:r>
            <a:endParaRPr lang="en-US" sz="1200" dirty="0"/>
          </a:p>
        </p:txBody>
      </p:sp>
      <p:sp>
        <p:nvSpPr>
          <p:cNvPr id="11" name="Text 9"/>
          <p:cNvSpPr/>
          <p:nvPr/>
        </p:nvSpPr>
        <p:spPr>
          <a:xfrm>
            <a:off x="812800" y="304800"/>
            <a:ext cx="417116" cy="325120"/>
          </a:xfrm>
          <a:custGeom>
            <a:avLst/>
            <a:gdLst/>
            <a:ahLst/>
            <a:cxnLst/>
            <a:rect l="l" t="t" r="r" b="b"/>
            <a:pathLst>
              <a:path w="417116" h="325120">
                <a:moveTo>
                  <a:pt x="162560" y="0"/>
                </a:moveTo>
                <a:lnTo>
                  <a:pt x="254556" y="0"/>
                </a:lnTo>
                <a:arcTo hR="162560" wR="162560" stAng="16200000" swAng="5400000"/>
                <a:lnTo>
                  <a:pt x="417116" y="162560"/>
                </a:lnTo>
                <a:arcTo hR="162560" wR="162560" stAng="0" swAng="5400000"/>
                <a:lnTo>
                  <a:pt x="162560" y="325120"/>
                </a:lnTo>
                <a:arcTo hR="162560" wR="162560" stAng="5400000" swAng="5400000"/>
                <a:lnTo>
                  <a:pt x="0" y="162560"/>
                </a:lnTo>
                <a:arcTo hR="162560" wR="162560" stAng="10800000" swAng="5400000"/>
                <a:close/>
              </a:path>
            </a:pathLst>
          </a:custGeom>
          <a:solidFill>
            <a:srgbClr val="14202E"/>
          </a:solidFill>
          <a:ln/>
        </p:spPr>
        <p:txBody>
          <a:bodyPr wrap="none" lIns="0" tIns="0" rIns="0" bIns="0" rtlCol="0" anchor="ctr">
            <a:normAutofit/>
          </a:bodyPr>
          <a:lstStyle/>
          <a:p>
            <a:pPr algn="ctr" indent="0" marL="0">
              <a:lnSpc>
                <a:spcPts val="1960"/>
              </a:lnSpc>
              <a:buNone/>
            </a:pPr>
            <a:r>
              <a:rPr lang="en-US" sz="1400" b="1" dirty="0">
                <a:solidFill>
                  <a:srgbClr val="F4F1EA"/>
                </a:solidFill>
                <a:latin typeface="Space Grotesk" pitchFamily="34" charset="0"/>
                <a:ea typeface="Space Grotesk" pitchFamily="34" charset="-122"/>
                <a:cs typeface="Space Grotesk" pitchFamily="34" charset="-120"/>
              </a:rPr>
              <a:t>13</a:t>
            </a:r>
            <a:endParaRPr lang="en-US" sz="1400" dirty="0"/>
          </a:p>
        </p:txBody>
      </p:sp>
      <p:sp>
        <p:nvSpPr>
          <p:cNvPr id="12" name="Text 10"/>
          <p:cNvSpPr/>
          <p:nvPr/>
        </p:nvSpPr>
        <p:spPr>
          <a:xfrm>
            <a:off x="1344216" y="360679"/>
            <a:ext cx="233591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3"/>
                </a:solidFill>
                <a:latin typeface="IBM Plex Sans" pitchFamily="34" charset="0"/>
                <a:ea typeface="IBM Plex Sans" pitchFamily="34" charset="-122"/>
                <a:cs typeface="IBM Plex Sans" pitchFamily="34" charset="-120"/>
              </a:rPr>
              <a:t>¿CUÁL ELIJO? </a:t>
            </a:r>
            <a:r>
              <a:rPr lang="en-US" sz="1200" b="1" spc="150" kern="0" dirty="0">
                <a:solidFill>
                  <a:srgbClr val="8796A6"/>
                </a:solidFill>
                <a:latin typeface="IBM Plex Sans" pitchFamily="34" charset="0"/>
                <a:ea typeface="IBM Plex Sans" pitchFamily="34" charset="-122"/>
                <a:cs typeface="IBM Plex Sans" pitchFamily="34" charset="-120"/>
              </a:rPr>
              <a:t>· ASIER</a:t>
            </a:r>
            <a:endParaRPr lang="en-US" sz="1200" dirty="0"/>
          </a:p>
        </p:txBody>
      </p:sp>
      <p:sp>
        <p:nvSpPr>
          <p:cNvPr id="13" name="Shape 11"/>
          <p:cNvSpPr/>
          <p:nvPr/>
        </p:nvSpPr>
        <p:spPr>
          <a:xfrm>
            <a:off x="0" y="0"/>
            <a:ext cx="1132205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2E"/>
                </a:solidFill>
                <a:latin typeface="Space Grotesk" pitchFamily="34" charset="0"/>
                <a:ea typeface="Space Grotesk" pitchFamily="34" charset="-122"/>
                <a:cs typeface="Space Grotesk" pitchFamily="34" charset="-120"/>
              </a:rPr>
              <a:t>Bibliografía</a:t>
            </a:r>
            <a:endParaRPr lang="en-US" sz="3600" dirty="0"/>
          </a:p>
        </p:txBody>
      </p:sp>
      <p:sp>
        <p:nvSpPr>
          <p:cNvPr id="3" name="Text 1"/>
          <p:cNvSpPr/>
          <p:nvPr/>
        </p:nvSpPr>
        <p:spPr>
          <a:xfrm>
            <a:off x="812800" y="1595127"/>
            <a:ext cx="355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7F86"/>
                </a:solidFill>
                <a:latin typeface="Space Grotesk" pitchFamily="34" charset="0"/>
                <a:ea typeface="Space Grotesk" pitchFamily="34" charset="-122"/>
                <a:cs typeface="Space Grotesk" pitchFamily="34" charset="-120"/>
              </a:rPr>
              <a:t>1</a:t>
            </a:r>
            <a:endParaRPr lang="en-US" sz="1600" dirty="0"/>
          </a:p>
        </p:txBody>
      </p:sp>
      <p:sp>
        <p:nvSpPr>
          <p:cNvPr id="4" name="Text 2"/>
          <p:cNvSpPr/>
          <p:nvPr/>
        </p:nvSpPr>
        <p:spPr>
          <a:xfrm>
            <a:off x="1244600" y="1595127"/>
            <a:ext cx="48399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Apache Cassandra: web oficial</a:t>
            </a:r>
            <a:endParaRPr lang="en-US" sz="1400" dirty="0"/>
          </a:p>
        </p:txBody>
      </p:sp>
      <p:sp>
        <p:nvSpPr>
          <p:cNvPr id="5" name="Text 3"/>
          <p:cNvSpPr/>
          <p:nvPr/>
        </p:nvSpPr>
        <p:spPr>
          <a:xfrm>
            <a:off x="1244600" y="1869442"/>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Apache Software Foundation · </a:t>
            </a:r>
            <a:r>
              <a:rPr lang="en-US" sz="1200" u="sng" dirty="0">
                <a:solidFill>
                  <a:srgbClr val="4A5563"/>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cassandra.apache.org</a:t>
            </a:r>
            <a:endParaRPr lang="en-US" sz="1200" dirty="0"/>
          </a:p>
        </p:txBody>
      </p:sp>
      <p:sp>
        <p:nvSpPr>
          <p:cNvPr id="6" name="Text 4"/>
          <p:cNvSpPr/>
          <p:nvPr/>
        </p:nvSpPr>
        <p:spPr>
          <a:xfrm>
            <a:off x="6248400" y="1595127"/>
            <a:ext cx="355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7F86"/>
                </a:solidFill>
                <a:latin typeface="Space Grotesk" pitchFamily="34" charset="0"/>
                <a:ea typeface="Space Grotesk" pitchFamily="34" charset="-122"/>
                <a:cs typeface="Space Grotesk" pitchFamily="34" charset="-120"/>
              </a:rPr>
              <a:t>2</a:t>
            </a:r>
            <a:endParaRPr lang="en-US" sz="1600" dirty="0"/>
          </a:p>
        </p:txBody>
      </p:sp>
      <p:sp>
        <p:nvSpPr>
          <p:cNvPr id="7" name="Text 5"/>
          <p:cNvSpPr/>
          <p:nvPr/>
        </p:nvSpPr>
        <p:spPr>
          <a:xfrm>
            <a:off x="6680200" y="1595127"/>
            <a:ext cx="48399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DataStax C# Driver: documentación</a:t>
            </a:r>
            <a:endParaRPr lang="en-US" sz="1400" dirty="0"/>
          </a:p>
        </p:txBody>
      </p:sp>
      <p:sp>
        <p:nvSpPr>
          <p:cNvPr id="8" name="Text 6"/>
          <p:cNvSpPr/>
          <p:nvPr/>
        </p:nvSpPr>
        <p:spPr>
          <a:xfrm>
            <a:off x="6680200" y="1869442"/>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DataStax · </a:t>
            </a:r>
            <a:r>
              <a:rPr lang="en-US" sz="1200" u="sng" dirty="0">
                <a:solidFill>
                  <a:srgbClr val="4A5563"/>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docs.datastax.com</a:t>
            </a:r>
            <a:endParaRPr lang="en-US" sz="1200" dirty="0"/>
          </a:p>
        </p:txBody>
      </p:sp>
      <p:sp>
        <p:nvSpPr>
          <p:cNvPr id="9" name="Text 7"/>
          <p:cNvSpPr/>
          <p:nvPr/>
        </p:nvSpPr>
        <p:spPr>
          <a:xfrm>
            <a:off x="812800" y="2260600"/>
            <a:ext cx="355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7F86"/>
                </a:solidFill>
                <a:latin typeface="Space Grotesk" pitchFamily="34" charset="0"/>
                <a:ea typeface="Space Grotesk" pitchFamily="34" charset="-122"/>
                <a:cs typeface="Space Grotesk" pitchFamily="34" charset="-120"/>
              </a:rPr>
              <a:t>3</a:t>
            </a:r>
            <a:endParaRPr lang="en-US" sz="1600" dirty="0"/>
          </a:p>
        </p:txBody>
      </p:sp>
      <p:sp>
        <p:nvSpPr>
          <p:cNvPr id="10" name="Text 8"/>
          <p:cNvSpPr/>
          <p:nvPr/>
        </p:nvSpPr>
        <p:spPr>
          <a:xfrm>
            <a:off x="1244600" y="2260600"/>
            <a:ext cx="48399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“Apache Cassandra: Four Interesting Facts”</a:t>
            </a:r>
            <a:endParaRPr lang="en-US" sz="1400" dirty="0"/>
          </a:p>
        </p:txBody>
      </p:sp>
      <p:sp>
        <p:nvSpPr>
          <p:cNvPr id="11" name="Text 9"/>
          <p:cNvSpPr/>
          <p:nvPr/>
        </p:nvSpPr>
        <p:spPr>
          <a:xfrm>
            <a:off x="1244600" y="2534927"/>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Blog de DataStax · </a:t>
            </a:r>
            <a:r>
              <a:rPr lang="en-US" sz="1200" u="sng" dirty="0">
                <a:solidFill>
                  <a:srgbClr val="4A5563"/>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datastax.com/blog</a:t>
            </a:r>
            <a:endParaRPr lang="en-US" sz="1200" dirty="0"/>
          </a:p>
        </p:txBody>
      </p:sp>
      <p:sp>
        <p:nvSpPr>
          <p:cNvPr id="12" name="Text 10"/>
          <p:cNvSpPr/>
          <p:nvPr/>
        </p:nvSpPr>
        <p:spPr>
          <a:xfrm>
            <a:off x="6248400" y="2260600"/>
            <a:ext cx="355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7F86"/>
                </a:solidFill>
                <a:latin typeface="Space Grotesk" pitchFamily="34" charset="0"/>
                <a:ea typeface="Space Grotesk" pitchFamily="34" charset="-122"/>
                <a:cs typeface="Space Grotesk" pitchFamily="34" charset="-120"/>
              </a:rPr>
              <a:t>4</a:t>
            </a:r>
            <a:endParaRPr lang="en-US" sz="1600" dirty="0"/>
          </a:p>
        </p:txBody>
      </p:sp>
      <p:sp>
        <p:nvSpPr>
          <p:cNvPr id="13" name="Text 11"/>
          <p:cNvSpPr/>
          <p:nvPr/>
        </p:nvSpPr>
        <p:spPr>
          <a:xfrm>
            <a:off x="6680200" y="2260600"/>
            <a:ext cx="48399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“Apache Cassandra version 4.0 released”</a:t>
            </a:r>
            <a:endParaRPr lang="en-US" sz="1400" dirty="0"/>
          </a:p>
        </p:txBody>
      </p:sp>
      <p:sp>
        <p:nvSpPr>
          <p:cNvPr id="14" name="Text 12"/>
          <p:cNvSpPr/>
          <p:nvPr/>
        </p:nvSpPr>
        <p:spPr>
          <a:xfrm>
            <a:off x="6680200" y="2534927"/>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IT Brief, julio de 2021 · </a:t>
            </a:r>
            <a:r>
              <a:rPr lang="en-US" sz="1200" u="sng" dirty="0">
                <a:solidFill>
                  <a:srgbClr val="4A5563"/>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itbrief.com.au</a:t>
            </a:r>
            <a:endParaRPr lang="en-US" sz="1200" dirty="0"/>
          </a:p>
        </p:txBody>
      </p:sp>
      <p:sp>
        <p:nvSpPr>
          <p:cNvPr id="15" name="Text 13"/>
          <p:cNvSpPr/>
          <p:nvPr/>
        </p:nvSpPr>
        <p:spPr>
          <a:xfrm>
            <a:off x="812800" y="2926085"/>
            <a:ext cx="355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7F86"/>
                </a:solidFill>
                <a:latin typeface="Space Grotesk" pitchFamily="34" charset="0"/>
                <a:ea typeface="Space Grotesk" pitchFamily="34" charset="-122"/>
                <a:cs typeface="Space Grotesk" pitchFamily="34" charset="-120"/>
              </a:rPr>
              <a:t>5</a:t>
            </a:r>
            <a:endParaRPr lang="en-US" sz="1600" dirty="0"/>
          </a:p>
        </p:txBody>
      </p:sp>
      <p:sp>
        <p:nvSpPr>
          <p:cNvPr id="16" name="Text 14"/>
          <p:cNvSpPr/>
          <p:nvPr/>
        </p:nvSpPr>
        <p:spPr>
          <a:xfrm>
            <a:off x="1244600" y="2926085"/>
            <a:ext cx="48399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“How Discord Stores Trillions of Messages”</a:t>
            </a:r>
            <a:endParaRPr lang="en-US" sz="1400" dirty="0"/>
          </a:p>
        </p:txBody>
      </p:sp>
      <p:sp>
        <p:nvSpPr>
          <p:cNvPr id="17" name="Text 15"/>
          <p:cNvSpPr/>
          <p:nvPr/>
        </p:nvSpPr>
        <p:spPr>
          <a:xfrm>
            <a:off x="1244600" y="320040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Ingeniería de Discord, 2023 · </a:t>
            </a:r>
            <a:r>
              <a:rPr lang="en-US" sz="1200" u="sng" dirty="0">
                <a:solidFill>
                  <a:srgbClr val="4A5563"/>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resources.scylladb.com</a:t>
            </a:r>
            <a:endParaRPr lang="en-US" sz="1200" dirty="0"/>
          </a:p>
        </p:txBody>
      </p:sp>
      <p:sp>
        <p:nvSpPr>
          <p:cNvPr id="18" name="Text 16"/>
          <p:cNvSpPr/>
          <p:nvPr/>
        </p:nvSpPr>
        <p:spPr>
          <a:xfrm>
            <a:off x="6248400" y="2926085"/>
            <a:ext cx="355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7F86"/>
                </a:solidFill>
                <a:latin typeface="Space Grotesk" pitchFamily="34" charset="0"/>
                <a:ea typeface="Space Grotesk" pitchFamily="34" charset="-122"/>
                <a:cs typeface="Space Grotesk" pitchFamily="34" charset="-120"/>
              </a:rPr>
              <a:t>6</a:t>
            </a:r>
            <a:endParaRPr lang="en-US" sz="1600" dirty="0"/>
          </a:p>
        </p:txBody>
      </p:sp>
      <p:sp>
        <p:nvSpPr>
          <p:cNvPr id="19" name="Text 17"/>
          <p:cNvSpPr/>
          <p:nvPr/>
        </p:nvSpPr>
        <p:spPr>
          <a:xfrm>
            <a:off x="6680200" y="2926085"/>
            <a:ext cx="48399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E"/>
                </a:solidFill>
                <a:latin typeface="IBM Plex Sans" pitchFamily="34" charset="0"/>
                <a:ea typeface="IBM Plex Sans" pitchFamily="34" charset="-122"/>
                <a:cs typeface="IBM Plex Sans" pitchFamily="34" charset="-120"/>
              </a:rPr>
              <a:t>Apuntes del Tema 3: SQL Server y ADO.NET</a:t>
            </a:r>
            <a:endParaRPr lang="en-US" sz="1400" dirty="0"/>
          </a:p>
        </p:txBody>
      </p:sp>
      <p:sp>
        <p:nvSpPr>
          <p:cNvPr id="20" name="Text 18"/>
          <p:cNvSpPr/>
          <p:nvPr/>
        </p:nvSpPr>
        <p:spPr>
          <a:xfrm>
            <a:off x="6680200" y="320040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Acceso a Datos · 2º DAM</a:t>
            </a:r>
            <a:endParaRPr lang="en-US" sz="1200" dirty="0"/>
          </a:p>
        </p:txBody>
      </p:sp>
      <p:sp>
        <p:nvSpPr>
          <p:cNvPr id="21" name="Text 19"/>
          <p:cNvSpPr/>
          <p:nvPr/>
        </p:nvSpPr>
        <p:spPr>
          <a:xfrm>
            <a:off x="812800" y="6238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16</a:t>
            </a:r>
            <a:endParaRPr lang="en-US" sz="1200" dirty="0"/>
          </a:p>
        </p:txBody>
      </p:sp>
      <p:sp>
        <p:nvSpPr>
          <p:cNvPr id="22" name="Text 20"/>
          <p:cNvSpPr/>
          <p:nvPr/>
        </p:nvSpPr>
        <p:spPr>
          <a:xfrm>
            <a:off x="812800" y="304800"/>
            <a:ext cx="422116" cy="325120"/>
          </a:xfrm>
          <a:custGeom>
            <a:avLst/>
            <a:gdLst/>
            <a:ahLst/>
            <a:cxnLst/>
            <a:rect l="l" t="t" r="r" b="b"/>
            <a:pathLst>
              <a:path w="422116" h="325120">
                <a:moveTo>
                  <a:pt x="162560" y="0"/>
                </a:moveTo>
                <a:lnTo>
                  <a:pt x="259556" y="0"/>
                </a:lnTo>
                <a:arcTo hR="162560" wR="162560" stAng="16200000" swAng="5400000"/>
                <a:lnTo>
                  <a:pt x="422116" y="162560"/>
                </a:lnTo>
                <a:arcTo hR="162560" wR="162560" stAng="0" swAng="5400000"/>
                <a:lnTo>
                  <a:pt x="162560" y="325120"/>
                </a:lnTo>
                <a:arcTo hR="162560" wR="162560" stAng="5400000" swAng="5400000"/>
                <a:lnTo>
                  <a:pt x="0" y="162560"/>
                </a:lnTo>
                <a:arcTo hR="162560" wR="162560" stAng="10800000" swAng="5400000"/>
                <a:close/>
              </a:path>
            </a:pathLst>
          </a:custGeom>
          <a:solidFill>
            <a:srgbClr val="14202E"/>
          </a:solidFill>
          <a:ln/>
        </p:spPr>
        <p:txBody>
          <a:bodyPr wrap="none" lIns="0" tIns="0" rIns="0" bIns="0" rtlCol="0" anchor="ctr">
            <a:normAutofit/>
          </a:bodyPr>
          <a:lstStyle/>
          <a:p>
            <a:pPr algn="ctr" indent="0" marL="0">
              <a:lnSpc>
                <a:spcPts val="1960"/>
              </a:lnSpc>
              <a:buNone/>
            </a:pPr>
            <a:r>
              <a:rPr lang="en-US" sz="1400" b="1" dirty="0">
                <a:solidFill>
                  <a:srgbClr val="F4F1EA"/>
                </a:solidFill>
                <a:latin typeface="Space Grotesk" pitchFamily="34" charset="0"/>
                <a:ea typeface="Space Grotesk" pitchFamily="34" charset="-122"/>
                <a:cs typeface="Space Grotesk" pitchFamily="34" charset="-120"/>
              </a:rPr>
              <a:t>14</a:t>
            </a:r>
            <a:endParaRPr lang="en-US" sz="1400" dirty="0"/>
          </a:p>
        </p:txBody>
      </p:sp>
      <p:sp>
        <p:nvSpPr>
          <p:cNvPr id="23" name="Text 21"/>
          <p:cNvSpPr/>
          <p:nvPr/>
        </p:nvSpPr>
        <p:spPr>
          <a:xfrm>
            <a:off x="1349216" y="360679"/>
            <a:ext cx="24536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3"/>
                </a:solidFill>
                <a:latin typeface="IBM Plex Sans" pitchFamily="34" charset="0"/>
                <a:ea typeface="IBM Plex Sans" pitchFamily="34" charset="-122"/>
                <a:cs typeface="IBM Plex Sans" pitchFamily="34" charset="-120"/>
              </a:rPr>
              <a:t>BIBLIOGRAFÍA </a:t>
            </a:r>
            <a:r>
              <a:rPr lang="en-US" sz="1200" b="1" spc="150" kern="0" dirty="0">
                <a:solidFill>
                  <a:srgbClr val="8796A6"/>
                </a:solidFill>
                <a:latin typeface="IBM Plex Sans" pitchFamily="34" charset="0"/>
                <a:ea typeface="IBM Plex Sans" pitchFamily="34" charset="-122"/>
                <a:cs typeface="IBM Plex Sans" pitchFamily="34" charset="-120"/>
              </a:rPr>
              <a:t>· ASIER</a:t>
            </a:r>
            <a:endParaRPr lang="en-US" sz="1200" dirty="0"/>
          </a:p>
        </p:txBody>
      </p:sp>
      <p:sp>
        <p:nvSpPr>
          <p:cNvPr id="24" name="Shape 22"/>
          <p:cNvSpPr/>
          <p:nvPr/>
        </p:nvSpPr>
        <p:spPr>
          <a:xfrm>
            <a:off x="0" y="0"/>
            <a:ext cx="12192000" cy="63500"/>
          </a:xfrm>
          <a:prstGeom prst="rect">
            <a:avLst/>
          </a:prstGeom>
          <a:gradFill rotWithShape="1">
            <a:gsLst>
              <a:gs pos="0">
                <a:srgbClr val="3FC1C9"/>
              </a:gs>
              <a:gs pos="100000">
                <a:srgbClr val="F28C38"/>
              </a:gs>
            </a:gsLst>
            <a:lin ang="0" scaled="0"/>
          </a:gra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520"/>
        </a:solidFill>
      </p:bgPr>
    </p:bg>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654304" y="2090427"/>
            <a:ext cx="10883392" cy="309880"/>
          </a:xfrm>
          <a:prstGeom prst="rect">
            <a:avLst/>
          </a:prstGeom>
          <a:noFill/>
          <a:ln/>
        </p:spPr>
        <p:txBody>
          <a:bodyPr wrap="square" lIns="0" tIns="0" rIns="0" bIns="0" rtlCol="0" anchor="t">
            <a:normAutofit/>
          </a:bodyPr>
          <a:lstStyle/>
          <a:p>
            <a:pPr algn="ctr" indent="0" marL="0">
              <a:lnSpc>
                <a:spcPts val="2240"/>
              </a:lnSpc>
              <a:buNone/>
            </a:pPr>
            <a:r>
              <a:rPr lang="en-US" sz="1600" b="1" spc="300" kern="0" dirty="0">
                <a:solidFill>
                  <a:srgbClr val="3FC1C9"/>
                </a:solidFill>
                <a:latin typeface="IBM Plex Sans" pitchFamily="34" charset="0"/>
                <a:ea typeface="IBM Plex Sans" pitchFamily="34" charset="-122"/>
                <a:cs typeface="IBM Plex Sans" pitchFamily="34" charset="-120"/>
              </a:rPr>
              <a:t>GRACIAS POR VUESTRA ATENCIÓN</a:t>
            </a:r>
            <a:endParaRPr lang="en-US" sz="1600" dirty="0"/>
          </a:p>
        </p:txBody>
      </p:sp>
      <p:sp>
        <p:nvSpPr>
          <p:cNvPr id="4" name="Text 1"/>
          <p:cNvSpPr/>
          <p:nvPr>
            <p:ph type="title"/>
          </p:nvPr>
        </p:nvSpPr>
        <p:spPr>
          <a:xfrm>
            <a:off x="654304" y="2628900"/>
            <a:ext cx="10883392" cy="1422400"/>
          </a:xfrm>
          <a:prstGeom prst="rect">
            <a:avLst/>
          </a:prstGeom>
          <a:noFill/>
          <a:ln/>
        </p:spPr>
        <p:txBody>
          <a:bodyPr wrap="square" lIns="0" tIns="0" rIns="0" bIns="0" rtlCol="0" anchor="t">
            <a:normAutofit/>
          </a:bodyPr>
          <a:lstStyle/>
          <a:p>
            <a:pPr algn="ctr" indent="0" marL="0">
              <a:lnSpc>
                <a:spcPts val="11000"/>
              </a:lnSpc>
              <a:buNone/>
            </a:pPr>
            <a:r>
              <a:rPr lang="en-US" sz="11000" b="1" i="0" dirty="0">
                <a:solidFill>
                  <a:srgbClr val="F4F1EA"/>
                </a:solidFill>
                <a:latin typeface="Space Grotesk" pitchFamily="34" charset="0"/>
                <a:ea typeface="Space Grotesk" pitchFamily="34" charset="-122"/>
                <a:cs typeface="Space Grotesk" pitchFamily="34" charset="-120"/>
              </a:rPr>
              <a:t>¿Preguntas?</a:t>
            </a:r>
            <a:endParaRPr lang="en-US" sz="11000" dirty="0"/>
          </a:p>
        </p:txBody>
      </p:sp>
      <p:sp>
        <p:nvSpPr>
          <p:cNvPr id="5" name="Text 2"/>
          <p:cNvSpPr/>
          <p:nvPr/>
        </p:nvSpPr>
        <p:spPr>
          <a:xfrm>
            <a:off x="1517650" y="4279900"/>
            <a:ext cx="915670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B7C4D1"/>
                </a:solidFill>
                <a:latin typeface="IBM Plex Sans" pitchFamily="34" charset="0"/>
                <a:ea typeface="IBM Plex Sans" pitchFamily="34" charset="-122"/>
                <a:cs typeface="IBM Plex Sans" pitchFamily="34" charset="-120"/>
              </a:rPr>
              <a:t>SQL Server protege la </a:t>
            </a:r>
            <a:r>
              <a:rPr lang="en-US" sz="1600" b="1" dirty="0">
                <a:solidFill>
                  <a:srgbClr val="F4F1EA"/>
                </a:solidFill>
                <a:latin typeface="IBM Plex Sans" pitchFamily="34" charset="0"/>
                <a:ea typeface="IBM Plex Sans" pitchFamily="34" charset="-122"/>
                <a:cs typeface="IBM Plex Sans" pitchFamily="34" charset="-120"/>
              </a:rPr>
              <a:t>coherencia</a:t>
            </a:r>
            <a:r>
              <a:rPr lang="en-US" sz="1600" dirty="0">
                <a:solidFill>
                  <a:srgbClr val="B7C4D1"/>
                </a:solidFill>
                <a:latin typeface="IBM Plex Sans" pitchFamily="34" charset="0"/>
                <a:ea typeface="IBM Plex Sans" pitchFamily="34" charset="-122"/>
                <a:cs typeface="IBM Plex Sans" pitchFamily="34" charset="-120"/>
              </a:rPr>
              <a:t> · Cassandra protege la </a:t>
            </a:r>
            <a:r>
              <a:rPr lang="en-US" sz="1600" b="1" dirty="0">
                <a:solidFill>
                  <a:srgbClr val="3FC1C9"/>
                </a:solidFill>
                <a:latin typeface="IBM Plex Sans" pitchFamily="34" charset="0"/>
                <a:ea typeface="IBM Plex Sans" pitchFamily="34" charset="-122"/>
                <a:cs typeface="IBM Plex Sans" pitchFamily="34" charset="-120"/>
              </a:rPr>
              <a:t>disponibilidad</a:t>
            </a:r>
            <a:endParaRPr lang="en-US" sz="1600" dirty="0"/>
          </a:p>
        </p:txBody>
      </p:sp>
      <p:sp>
        <p:nvSpPr>
          <p:cNvPr id="6" name="Text 3"/>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796A6"/>
                </a:solidFill>
                <a:latin typeface="IBM Plex Sans" pitchFamily="34" charset="0"/>
                <a:ea typeface="IBM Plex Sans" pitchFamily="34" charset="-122"/>
                <a:cs typeface="IBM Plex Sans" pitchFamily="34" charset="-120"/>
              </a:rPr>
              <a:t>Aitor García · Daniel Rodríguez · Asier García — Acceso a Datos · 2º DAM</a:t>
            </a:r>
            <a:endParaRPr lang="en-US" sz="1200" dirty="0"/>
          </a:p>
        </p:txBody>
      </p:sp>
    </p:spTree>
  </p:cSld>
  <p:clrMapOvr>
    <a:masterClrMapping/>
  </p:clrMapOvr>
</p:sld>
</file>

<file path=ppt/theme/theme1.xml><?xml version="1.0" encoding="utf-8"?>
<a:theme xmlns:a="http://schemas.openxmlformats.org/drawingml/2006/main" name="Apache Cassandra vs SQL Server">
  <a:themeElements>
    <a:clrScheme name="Apache Cassandra vs SQL Server">
      <a:dk1>
        <a:srgbClr val="14202E"/>
      </a:dk1>
      <a:lt1>
        <a:srgbClr val="F7E3CF"/>
      </a:lt1>
      <a:dk2>
        <a:srgbClr val="4D5156"/>
      </a:dk2>
      <a:lt2>
        <a:srgbClr val="E0D0BF"/>
      </a:lt2>
      <a:accent1>
        <a:srgbClr val="F28C38"/>
      </a:accent1>
      <a:accent2>
        <a:srgbClr val="3FC1C9"/>
      </a:accent2>
      <a:accent3>
        <a:srgbClr val="1C3147"/>
      </a:accent3>
      <a:accent4>
        <a:srgbClr val="1B7F86"/>
      </a:accent4>
      <a:accent5>
        <a:srgbClr val="7EE0A1"/>
      </a:accent5>
      <a:accent6>
        <a:srgbClr val="B7C4D1"/>
      </a:accent6>
      <a:hlink>
        <a:srgbClr val="0563C1"/>
      </a:hlink>
      <a:folHlink>
        <a:srgbClr val="954F72"/>
      </a:folHlink>
    </a:clrScheme>
    <a:fontScheme name="Apache Cassandra vs SQL Server">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Cassandra vs SQL Server</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2026-10-26T09:59:55Z</dcterms:created>
  <dcterms:modified xsi:type="dcterms:W3CDTF">2026-10-26T09:59:55Z</dcterms:modified>
</cp:coreProperties>
</file>